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fntdata" ContentType="application/x-fontdata"/>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embedTrueType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embeddedFontLst>
    <p:embeddedFont>
      <p:font typeface="Rethink Sans"/>
      <p:regular r:id="rId19"/>
    </p:embeddedFont>
    <p:embeddedFont>
      <p:font typeface="Inter"/>
      <p:regular r:id="rId20"/>
    </p:embeddedFont>
    <p:embeddedFont>
      <p:font typeface="DM Sans"/>
      <p:regular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rId19.fntdata"/><Relationship Id="rId20" Type="http://schemas.openxmlformats.org/officeDocument/2006/relationships/font" Target="fonts/rId20.fntdata"/><Relationship Id="rId21" Type="http://schemas.openxmlformats.org/officeDocument/2006/relationships/font" Target="fonts/rId21.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TTS im Alltag
Assistenten · Navigation
Barrierefreiheit
Reale Störung
Lärm beeinflusst Qualität synthetischer Systeme
Unser Ziel
Robustheit messbar und vergleichbar machen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Qualität: medium
Außer Dabby: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Babble-Noise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Laden eine Liste von Harward Sätzen aus etwa 700 phonetisch ausgewogenen Sätzen
Anschließend synthetisieren wir diese mit 6 Piper Stimmen (3 Männlich und 3 Weiblich) und erhalten dadurch unsere clean wav
Im nächsten Schritt messen wir zum einen den RMS also den durchschnittlichen Energiegehalt der audio datein 
und erstellen dazu dann ein exakt mit snr abgestimmten Noise
Das machen wir dann insgesamt 15 mal unzwar für alle 3 unserer Noisetypen also White, Pink und Blue und dann jeweils die SNR Stufen von 0, 5, 10, 15 und 20
Diesen Noise mixen wir dann auf byte Ebene mit dem Sprachsignal also unserer clean WAV
Im nächsten Schritt lassen wir Whisper mit der turbo Variante alle Soundfiles anhören und ein Transkript erstellen von dem was er versteht
Und im letzten Schritt vergleichen wir die Referenzsätze also die Harvardsätze mit den von Whisper erkannten Transkripten
und errechnen daraus die WER und 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Unsere erste Entscheidung, wie wir das Rauschen generieren
Hier hatten wir uns ursprünglich für ffmpeg entschieden 
wo die Umsetzung auch vergleichweise sehr simpel war
hier hatten wir auch die Empfehlung des Dozenten
Allerdings ist uns schnell aufgefallen, dass das erstellte Noise sehr unsausgeglichen ist
White Noise war hörbar lauter und die anderen beiden hatten fast überhaupt keinen einfluss auf die wer bzw cer
Das liegt daran das man in ffmpeg keine RMS Werte mitgeben kann, wir konnten lediglich festlegen so und so laut soll das Noise sein
und da die Noisetypen alle unterschiedliche eigene RMS Werte haben lässt sich auch nicht eine gemeinsame Lautstärke nenn
Also haben wir uns für Numpy entschieden:
Hier können wir ein exaktes Signal to Noise Ration berechnen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haben wir uns für das Whisper Modell turbo entschieden:
Da es zum einen Open Source ist für Speech Recognition 
Robust gegenüber Hintergrundrauschen:
Also auch mit genau solchen Trainingsdaten trainiert
Und es hat im Gegensatz zu den anderen aktuell die beste Balance zwischen Geschwindigkeit und Genauigkeit
Außerdem läuft es auf einer GPU einfach extrem schnell:
Nicht auf meinem Laptop da läuft auf 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Misst Fehler auf Wortebene. Ein Wort gilt als Fehler, sobald es ersetzt, ausgelassen oder eingefügt wird – unabhängig davon, wie ähnlich es ist.
Beide Metriken zusammen ergeben ein vollständiges Bild: WER zeigt Wortverluste, CER zeigt partielle Erkennungsfehler
Niedrigerer Wert = bessere Verständlichkeit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White Noise: 
Überdeckt alle Frequenzbereiche gleichmäßig. Formanten und Konsonanten vollständig gestört. Höchste WER/CER über alle Stimmen.
Pink Noise:
Tieffrequente Vokalformanten stärker betroffen als Konsonanten. Mittlere Fehlerraten – praxisnäheres Störmodell.
Blue Noise:
Für Whisper am wenigsten schädlich. Tiefe Vokalstruktur bleibt intakt – genau jene Anteile, auf die Whispers Mel-Filterbank reagiert.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weiblich: 
Tendenziell robuster
höhere Grundfrequenz
schützt Vokalformanten
männlich:
Größere Streuung
danny (low-Qualität) als Sonderfall
Qualität &gt; Geschlecht: Synthesequalität (medium vs. low) beeinflusst Robustheit   nicht stärker als das Geschlecht allein. Eher Joe (medium) als Ausreißer.
Nur 3 Stimmen pro Geschlecht – individuelle Stimmcharakteristik schwer von systematischem Geschlechtereffekt trennbar.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 gehen zwar in den Versuchen davon aus das Whisper die Funktion eines menschlichen Ohr in unserem Versuch ersetzt
Wenn man das ganze aber kritischer Betrachtet muss einfach sagen, dass es das eig ja nicht ist sondern immer noch ein Labormodell darstellt
Es besitzt kein Cocktail-Party-Effekt also intelligentes oder selektive hören und auch nicht die Fähigkeit semantisch aus dem Kontext zu verstehen
Dennoch haben wir auch festgestellt das Whisper Verrauschte Daten teilweise sogar besser versteht als wir selbst
Dasselbe gilt für den Lärm, wir haben keine realen Lärmbedingungen
Babble, Verkehr oder Musik wären nochmal realer aber schwerer zu modellieren
WER &amp; CER sinken konsistent mit steigendem SNR – Grundhypothese bestätigt
White Noise ist der härteste Stresstest, Blue Noise am wenigsten schädlich für Whisper
Weibliche Stimmen tendenziell robuster – aber individuelle Stimmcharakteristik entscheidender als Geschlecht
amy: robusteste Stimme. joe: persistente Schwäche auch bei hohem SNR
Ab 15 dB SNR: Konvergenz aller Kurven – Rauschtyp wird irrelevant
Für rauschkritische TTS-Anwendungen: amy bevorzugen, joe vermeiden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White Noise: 
Überdeckt alle Frequenzbereiche gleichmäßig. Formanten und Konsonanten vollständig gestört. Höchste WER/CER über alle Stimmen.
Pink Noise:
Tieffrequente Vokalformanten stärker betroffen als Konsonanten. Mittlere Fehlerraten – praxisnäheres Störmodell.
Blue Noise:
Für Whisper am wenigsten schädlich. Tiefe Vokalstruktur bleibt intakt – genau jene Anteile, auf die Whispers Mel-Filterbank reagiert.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1.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image" Target="../media/image-5-17.png"/><Relationship Id="rId18" Type="http://schemas.openxmlformats.org/officeDocument/2006/relationships/image" Target="../media/image-5-18.png"/><Relationship Id="rId19" Type="http://schemas.openxmlformats.org/officeDocument/2006/relationships/image" Target="../media/image-5-19.png"/><Relationship Id="rId20" Type="http://schemas.openxmlformats.org/officeDocument/2006/relationships/slideLayout" Target="../slideLayouts/slideLayout1.xml"/><Relationship Id="rId2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1.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114300" y="85725"/>
            <a:ext cx="8915400" cy="4967288"/>
          </a:xfrm>
          <a:prstGeom prst="roundRect">
            <a:avLst>
              <a:gd name="adj" fmla="val 2209"/>
            </a:avLst>
          </a:prstGeom>
          <a:solidFill>
            <a:srgbClr val="171717"/>
          </a:solidFill>
          <a:ln/>
        </p:spPr>
      </p:sp>
      <p:pic>
        <p:nvPicPr>
          <p:cNvPr id="3" name="Image 0" descr="preencoded.png">    </p:cNvPr>
          <p:cNvPicPr>
            <a:picLocks noChangeAspect="1"/>
          </p:cNvPicPr>
          <p:nvPr/>
        </p:nvPicPr>
        <p:blipFill>
          <a:blip r:embed="rId1"/>
          <a:srcRect l="0" r="0" t="0" b="0"/>
          <a:stretch/>
        </p:blipFill>
        <p:spPr>
          <a:xfrm>
            <a:off x="114300" y="85725"/>
            <a:ext cx="8915400" cy="4967288"/>
          </a:xfrm>
          <a:prstGeom prst="rect">
            <a:avLst/>
          </a:prstGeom>
        </p:spPr>
      </p:pic>
      <p:sp>
        <p:nvSpPr>
          <p:cNvPr id="4" name="Text 1"/>
          <p:cNvSpPr/>
          <p:nvPr/>
        </p:nvSpPr>
        <p:spPr>
          <a:xfrm>
            <a:off x="719138" y="4471988"/>
            <a:ext cx="5195888" cy="238125"/>
          </a:xfrm>
          <a:prstGeom prst="rect">
            <a:avLst/>
          </a:prstGeom>
          <a:noFill/>
          <a:ln/>
        </p:spPr>
        <p:txBody>
          <a:bodyPr wrap="square" lIns="0" tIns="0" rIns="0" bIns="0" rtlCol="0" anchor="t"/>
          <a:lstStyle/>
          <a:p>
            <a:pPr algn="l" indent="0" marL="0">
              <a:lnSpc>
                <a:spcPts val="1795"/>
              </a:lnSpc>
              <a:buNone/>
            </a:pPr>
            <a:r>
              <a:rPr lang="en-US" sz="1283" spc="-13" kern="0" dirty="0">
                <a:solidFill>
                  <a:srgbClr val="E0E0E0">
                    <a:alpha val="99000"/>
                  </a:srgbClr>
                </a:solidFill>
                <a:latin typeface="Rethink Sans" pitchFamily="34" charset="0"/>
                <a:ea typeface="Rethink Sans" pitchFamily="34" charset="-122"/>
                <a:cs typeface="Rethink Sans" pitchFamily="34" charset="-120"/>
              </a:rPr>
              <a:t>113457a Speech Interaction | Lars Gerigk (lg107) | Nils Fink (nf056)</a:t>
            </a:r>
            <a:endParaRPr lang="en-US" sz="1283" dirty="0"/>
          </a:p>
        </p:txBody>
      </p:sp>
      <p:sp>
        <p:nvSpPr>
          <p:cNvPr id="5" name="Shape 2"/>
          <p:cNvSpPr/>
          <p:nvPr/>
        </p:nvSpPr>
        <p:spPr>
          <a:xfrm>
            <a:off x="633413" y="2562225"/>
            <a:ext cx="928688" cy="0"/>
          </a:xfrm>
          <a:prstGeom prst="line">
            <a:avLst/>
          </a:prstGeom>
          <a:noFill/>
          <a:ln w="18097">
            <a:solidFill>
              <a:srgbClr val="FBFAFB"/>
            </a:solidFill>
            <a:prstDash val="solid"/>
          </a:ln>
        </p:spPr>
      </p:sp>
      <p:pic>
        <p:nvPicPr>
          <p:cNvPr id="6" name="Image 1" descr="preencoded.png">    </p:cNvPr>
          <p:cNvPicPr>
            <a:picLocks noChangeAspect="1"/>
          </p:cNvPicPr>
          <p:nvPr/>
        </p:nvPicPr>
        <p:blipFill>
          <a:blip r:embed="rId2"/>
          <a:srcRect l="0" r="0" t="0" b="0"/>
          <a:stretch/>
        </p:blipFill>
        <p:spPr>
          <a:xfrm>
            <a:off x="719138" y="1271588"/>
            <a:ext cx="609600" cy="609600"/>
          </a:xfrm>
          <a:prstGeom prst="rect">
            <a:avLst/>
          </a:prstGeom>
        </p:spPr>
      </p:pic>
      <p:sp>
        <p:nvSpPr>
          <p:cNvPr id="7" name="Text 3"/>
          <p:cNvSpPr/>
          <p:nvPr/>
        </p:nvSpPr>
        <p:spPr>
          <a:xfrm>
            <a:off x="666750" y="2828925"/>
            <a:ext cx="7962900" cy="1095375"/>
          </a:xfrm>
          <a:prstGeom prst="rect">
            <a:avLst/>
          </a:prstGeom>
          <a:noFill/>
          <a:ln/>
        </p:spPr>
        <p:txBody>
          <a:bodyPr wrap="square" lIns="0" tIns="0" rIns="0" bIns="0" rtlCol="0" anchor="ctr"/>
          <a:lstStyle/>
          <a:p>
            <a:pPr algn="l" indent="0" marL="0">
              <a:lnSpc>
                <a:spcPts val="4104"/>
              </a:lnSpc>
              <a:buNone/>
            </a:pPr>
            <a:r>
              <a:rPr lang="en-US" sz="3420" b="1" spc="-75" kern="0" dirty="0">
                <a:solidFill>
                  <a:srgbClr val="FFFFFF">
                    <a:alpha val="99000"/>
                  </a:srgbClr>
                </a:solidFill>
                <a:latin typeface="Rethink Sans" pitchFamily="34" charset="0"/>
                <a:ea typeface="Rethink Sans" pitchFamily="34" charset="-122"/>
                <a:cs typeface="Rethink Sans" pitchFamily="34" charset="-120"/>
              </a:rPr>
              <a:t>Sprachverständlichkeit synthetischer Stimmen unter Rauschen</a:t>
            </a:r>
            <a:endParaRPr lang="en-US" sz="3420" dirty="0"/>
          </a:p>
        </p:txBody>
      </p:sp>
      <p:sp>
        <p:nvSpPr>
          <p:cNvPr id="8" name="Text 4"/>
          <p:cNvSpPr/>
          <p:nvPr/>
        </p:nvSpPr>
        <p:spPr>
          <a:xfrm>
            <a:off x="1471613" y="1281113"/>
            <a:ext cx="6272213" cy="547688"/>
          </a:xfrm>
          <a:prstGeom prst="rect">
            <a:avLst/>
          </a:prstGeom>
          <a:noFill/>
          <a:ln/>
        </p:spPr>
        <p:txBody>
          <a:bodyPr wrap="square" lIns="0" tIns="0" rIns="0" bIns="0" rtlCol="0" anchor="ctr"/>
          <a:lstStyle/>
          <a:p>
            <a:pPr algn="l" indent="0" marL="0">
              <a:lnSpc>
                <a:spcPts val="4104"/>
              </a:lnSpc>
              <a:buNone/>
            </a:pPr>
            <a:r>
              <a:rPr lang="en-US" sz="3420" spc="-75" kern="0" dirty="0">
                <a:solidFill>
                  <a:srgbClr val="FFFFFF">
                    <a:alpha val="99000"/>
                  </a:srgbClr>
                </a:solidFill>
                <a:latin typeface="Rethink Sans" pitchFamily="34" charset="0"/>
                <a:ea typeface="Rethink Sans" pitchFamily="34" charset="-122"/>
                <a:cs typeface="Rethink Sans" pitchFamily="34" charset="-120"/>
              </a:rPr>
              <a:t>Noise Robustness in Piper TTS</a:t>
            </a:r>
            <a:endParaRPr lang="en-US" sz="34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3" name="Shape 0"/>
          <p:cNvSpPr/>
          <p:nvPr/>
        </p:nvSpPr>
        <p:spPr>
          <a:xfrm>
            <a:off x="114300" y="85725"/>
            <a:ext cx="8915400" cy="4967288"/>
          </a:xfrm>
          <a:prstGeom prst="roundRect">
            <a:avLst>
              <a:gd name="adj" fmla="val 2209"/>
            </a:avLst>
          </a:prstGeom>
          <a:solidFill>
            <a:srgbClr val="171717"/>
          </a:solidFill>
          <a:ln/>
        </p:spPr>
      </p:sp>
      <p:sp>
        <p:nvSpPr>
          <p:cNvPr id="4" name="Shape 1"/>
          <p:cNvSpPr/>
          <p:nvPr/>
        </p:nvSpPr>
        <p:spPr>
          <a:xfrm rot="15045">
            <a:off x="481012" y="1004887"/>
            <a:ext cx="2166958" cy="0"/>
          </a:xfrm>
          <a:prstGeom prst="line">
            <a:avLst/>
          </a:prstGeom>
          <a:noFill/>
          <a:ln w="18097">
            <a:solidFill>
              <a:srgbClr val="41B883"/>
            </a:solidFill>
            <a:prstDash val="solid"/>
          </a:ln>
        </p:spPr>
      </p:sp>
      <p:sp>
        <p:nvSpPr>
          <p:cNvPr id="5" name="Text 2"/>
          <p:cNvSpPr/>
          <p:nvPr/>
        </p:nvSpPr>
        <p:spPr>
          <a:xfrm>
            <a:off x="495300" y="461963"/>
            <a:ext cx="4886325" cy="547688"/>
          </a:xfrm>
          <a:prstGeom prst="rect">
            <a:avLst/>
          </a:prstGeom>
          <a:noFill/>
          <a:ln/>
        </p:spPr>
        <p:txBody>
          <a:bodyPr wrap="square" lIns="0" tIns="0" rIns="0" bIns="0" rtlCol="0" anchor="ctr"/>
          <a:lstStyle/>
          <a:p>
            <a:pPr algn="l" indent="0" marL="0">
              <a:lnSpc>
                <a:spcPts val="4104"/>
              </a:lnSpc>
              <a:buNone/>
            </a:pPr>
            <a:r>
              <a:rPr lang="en-US" sz="3420" b="1" spc="-75" kern="0" dirty="0">
                <a:solidFill>
                  <a:srgbClr val="FFFFFF">
                    <a:alpha val="99000"/>
                  </a:srgbClr>
                </a:solidFill>
                <a:latin typeface="Rethink Sans" pitchFamily="34" charset="0"/>
                <a:ea typeface="Rethink Sans" pitchFamily="34" charset="-122"/>
                <a:cs typeface="Rethink Sans" pitchFamily="34" charset="-120"/>
              </a:rPr>
              <a:t>Motivation</a:t>
            </a:r>
            <a:endParaRPr lang="en-US" sz="3420" dirty="0"/>
          </a:p>
        </p:txBody>
      </p:sp>
      <p:sp>
        <p:nvSpPr>
          <p:cNvPr id="6" name="Text 3"/>
          <p:cNvSpPr/>
          <p:nvPr/>
        </p:nvSpPr>
        <p:spPr>
          <a:xfrm>
            <a:off x="381000" y="4710113"/>
            <a:ext cx="4495800" cy="133350"/>
          </a:xfrm>
          <a:prstGeom prst="rect">
            <a:avLst/>
          </a:prstGeom>
          <a:noFill/>
          <a:ln/>
        </p:spPr>
        <p:txBody>
          <a:bodyPr wrap="square" lIns="0" tIns="0" rIns="0" bIns="0" rtlCol="0" anchor="t"/>
          <a:lstStyle/>
          <a:p>
            <a:pPr algn="l" indent="0" marL="0">
              <a:lnSpc>
                <a:spcPts val="998"/>
              </a:lnSpc>
              <a:buNone/>
            </a:pPr>
            <a:r>
              <a:rPr lang="en-US" sz="713" dirty="0">
                <a:solidFill>
                  <a:srgbClr val="606063">
                    <a:alpha val="99000"/>
                  </a:srgbClr>
                </a:solidFill>
                <a:latin typeface="Rethink Sans" pitchFamily="34" charset="0"/>
                <a:ea typeface="Rethink Sans" pitchFamily="34" charset="-122"/>
                <a:cs typeface="Rethink Sans" pitchFamily="34" charset="-120"/>
              </a:rPr>
              <a:t>113457a Speech Interaction | Lars Gerigk (lg107) | Nils Fink (nf056)</a:t>
            </a:r>
            <a:endParaRPr lang="en-US" sz="713" dirty="0"/>
          </a:p>
        </p:txBody>
      </p:sp>
      <p:sp>
        <p:nvSpPr>
          <p:cNvPr id="7" name="Text 4"/>
          <p:cNvSpPr/>
          <p:nvPr/>
        </p:nvSpPr>
        <p:spPr>
          <a:xfrm>
            <a:off x="495300" y="1009650"/>
            <a:ext cx="8162925" cy="342900"/>
          </a:xfrm>
          <a:prstGeom prst="rect">
            <a:avLst/>
          </a:prstGeom>
          <a:noFill/>
          <a:ln/>
        </p:spPr>
        <p:txBody>
          <a:bodyPr wrap="square" lIns="0" tIns="0" rIns="0" bIns="0" rtlCol="0" anchor="t"/>
          <a:lstStyle/>
          <a:p>
            <a:pPr algn="l" indent="0" marL="0">
              <a:lnSpc>
                <a:spcPts val="2565"/>
              </a:lnSpc>
              <a:buNone/>
            </a:pPr>
            <a:r>
              <a:rPr lang="en-US" sz="1283" spc="-13" kern="0" dirty="0">
                <a:solidFill>
                  <a:srgbClr val="FBFAFB">
                    <a:alpha val="99000"/>
                  </a:srgbClr>
                </a:solidFill>
                <a:latin typeface="Rethink Sans" pitchFamily="34" charset="0"/>
                <a:ea typeface="Rethink Sans" pitchFamily="34" charset="-122"/>
                <a:cs typeface="Rethink Sans" pitchFamily="34" charset="-120"/>
              </a:rPr>
              <a:t>Verständlichkeit syntethischer Sprache unter Rauschen</a:t>
            </a:r>
            <a:endParaRPr lang="en-US" sz="1283" dirty="0"/>
          </a:p>
        </p:txBody>
      </p:sp>
      <p:sp>
        <p:nvSpPr>
          <p:cNvPr id="8" name="Text 5"/>
          <p:cNvSpPr/>
          <p:nvPr/>
        </p:nvSpPr>
        <p:spPr>
          <a:xfrm>
            <a:off x="1090613" y="1928813"/>
            <a:ext cx="3786188" cy="1285875"/>
          </a:xfrm>
          <a:prstGeom prst="rect">
            <a:avLst/>
          </a:prstGeom>
          <a:noFill/>
          <a:ln/>
        </p:spPr>
        <p:txBody>
          <a:bodyPr wrap="square" lIns="0" tIns="0" rIns="0" bIns="0" rtlCol="0" anchor="t"/>
          <a:lstStyle/>
          <a:p>
            <a:pPr algn="l" indent="0" marL="0">
              <a:lnSpc>
                <a:spcPts val="3206"/>
              </a:lnSpc>
              <a:buNone/>
            </a:pPr>
            <a:r>
              <a:rPr lang="en-US" sz="1283" spc="-13" kern="0" dirty="0">
                <a:solidFill>
                  <a:srgbClr val="FBFAFB">
                    <a:alpha val="99000"/>
                  </a:srgbClr>
                </a:solidFill>
                <a:latin typeface="Rethink Sans" pitchFamily="34" charset="0"/>
                <a:ea typeface="Rethink Sans" pitchFamily="34" charset="-122"/>
                <a:cs typeface="Rethink Sans" pitchFamily="34" charset="-120"/>
              </a:rPr>
              <a:t>TTS-Systeme im Alltag</a:t>
            </a:r>
            <a:endParaRPr lang="en-US" sz="1283" dirty="0"/>
          </a:p>
          <a:p>
            <a:pPr algn="l" indent="0" marL="0">
              <a:lnSpc>
                <a:spcPts val="3206"/>
              </a:lnSpc>
              <a:buNone/>
            </a:pPr>
            <a:r>
              <a:rPr lang="en-US" sz="1283" spc="-13" kern="0" dirty="0">
                <a:solidFill>
                  <a:srgbClr val="FBFAFB">
                    <a:alpha val="99000"/>
                  </a:srgbClr>
                </a:solidFill>
                <a:latin typeface="Rethink Sans" pitchFamily="34" charset="0"/>
                <a:ea typeface="Rethink Sans" pitchFamily="34" charset="-122"/>
                <a:cs typeface="Rethink Sans" pitchFamily="34" charset="-120"/>
              </a:rPr>
              <a:t>Robustheit unter Noise</a:t>
            </a:r>
            <a:endParaRPr lang="en-US" sz="1283" dirty="0"/>
          </a:p>
          <a:p>
            <a:pPr algn="l" indent="0" marL="0">
              <a:lnSpc>
                <a:spcPts val="3206"/>
              </a:lnSpc>
              <a:buNone/>
            </a:pPr>
            <a:r>
              <a:rPr lang="en-US" sz="1283" spc="-13" kern="0" dirty="0">
                <a:solidFill>
                  <a:srgbClr val="FBFAFB">
                    <a:alpha val="99000"/>
                  </a:srgbClr>
                </a:solidFill>
                <a:latin typeface="Rethink Sans" pitchFamily="34" charset="0"/>
                <a:ea typeface="Rethink Sans" pitchFamily="34" charset="-122"/>
                <a:cs typeface="Rethink Sans" pitchFamily="34" charset="-120"/>
              </a:rPr>
              <a:t>Vergleichen der Stimmen &amp; Rauschentypen</a:t>
            </a:r>
            <a:endParaRPr lang="en-US" sz="1283" dirty="0"/>
          </a:p>
        </p:txBody>
      </p:sp>
      <p:sp>
        <p:nvSpPr>
          <p:cNvPr id="9" name="Text 6"/>
          <p:cNvSpPr/>
          <p:nvPr/>
        </p:nvSpPr>
        <p:spPr>
          <a:xfrm>
            <a:off x="495300" y="2014538"/>
            <a:ext cx="280988" cy="280988"/>
          </a:xfrm>
          <a:prstGeom prst="ellipse">
            <a:avLst/>
          </a:prstGeom>
          <a:solidFill>
            <a:srgbClr val="41B883"/>
          </a:solidFill>
          <a:ln/>
        </p:spPr>
        <p:txBody>
          <a:bodyPr wrap="square" rtlCol="0" anchor="ctr"/>
          <a:lstStyle/>
          <a:p>
            <a:pPr indent="0" marL="0">
              <a:buNone/>
            </a:pPr>
            <a:endParaRPr lang="en-US" dirty="0"/>
          </a:p>
        </p:txBody>
      </p:sp>
      <p:sp>
        <p:nvSpPr>
          <p:cNvPr id="10" name="Text 7"/>
          <p:cNvSpPr/>
          <p:nvPr/>
        </p:nvSpPr>
        <p:spPr>
          <a:xfrm>
            <a:off x="495300" y="2433638"/>
            <a:ext cx="280988" cy="280988"/>
          </a:xfrm>
          <a:prstGeom prst="ellipse">
            <a:avLst/>
          </a:prstGeom>
          <a:solidFill>
            <a:srgbClr val="41B883"/>
          </a:solidFill>
          <a:ln/>
        </p:spPr>
        <p:txBody>
          <a:bodyPr wrap="square" rtlCol="0" anchor="ctr"/>
          <a:lstStyle/>
          <a:p>
            <a:pPr indent="0" marL="0">
              <a:buNone/>
            </a:pPr>
            <a:endParaRPr lang="en-US" dirty="0"/>
          </a:p>
        </p:txBody>
      </p:sp>
      <p:sp>
        <p:nvSpPr>
          <p:cNvPr id="11" name="Text 8"/>
          <p:cNvSpPr/>
          <p:nvPr/>
        </p:nvSpPr>
        <p:spPr>
          <a:xfrm>
            <a:off x="495300" y="2852738"/>
            <a:ext cx="280988" cy="280988"/>
          </a:xfrm>
          <a:prstGeom prst="ellipse">
            <a:avLst/>
          </a:prstGeom>
          <a:solidFill>
            <a:srgbClr val="41B883"/>
          </a:solidFill>
          <a:ln/>
        </p:spPr>
        <p:txBody>
          <a:bodyPr wrap="square" rtlCol="0" anchor="ctr"/>
          <a:lstStyle/>
          <a:p>
            <a:pPr indent="0" marL="0">
              <a:buNone/>
            </a:pPr>
            <a:endParaRPr lang="en-US" dirty="0"/>
          </a:p>
        </p:txBody>
      </p:sp>
      <p:pic>
        <p:nvPicPr>
          <p:cNvPr id="12" name="Image 0" descr="preencoded.png">    </p:cNvPr>
          <p:cNvPicPr>
            <a:picLocks noChangeAspect="1"/>
          </p:cNvPicPr>
          <p:nvPr/>
        </p:nvPicPr>
        <p:blipFill>
          <a:blip r:embed="rId1"/>
          <a:srcRect l="0" r="0" t="0" b="0"/>
          <a:stretch/>
        </p:blipFill>
        <p:spPr>
          <a:xfrm>
            <a:off x="540544" y="2057400"/>
            <a:ext cx="200025" cy="200025"/>
          </a:xfrm>
          <a:prstGeom prst="rect">
            <a:avLst/>
          </a:prstGeom>
        </p:spPr>
      </p:pic>
      <p:pic>
        <p:nvPicPr>
          <p:cNvPr id="13" name="Image 1" descr="preencoded.png">    </p:cNvPr>
          <p:cNvPicPr>
            <a:picLocks noChangeAspect="1"/>
          </p:cNvPicPr>
          <p:nvPr/>
        </p:nvPicPr>
        <p:blipFill>
          <a:blip r:embed="rId2"/>
          <a:srcRect l="0" r="0" t="0" b="0"/>
          <a:stretch/>
        </p:blipFill>
        <p:spPr>
          <a:xfrm>
            <a:off x="540544" y="2476500"/>
            <a:ext cx="200025" cy="200025"/>
          </a:xfrm>
          <a:prstGeom prst="rect">
            <a:avLst/>
          </a:prstGeom>
        </p:spPr>
      </p:pic>
      <p:pic>
        <p:nvPicPr>
          <p:cNvPr id="14" name="Image 2" descr="preencoded.png">    </p:cNvPr>
          <p:cNvPicPr>
            <a:picLocks noChangeAspect="1"/>
          </p:cNvPicPr>
          <p:nvPr/>
        </p:nvPicPr>
        <p:blipFill>
          <a:blip r:embed="rId3"/>
          <a:srcRect l="0" r="0" t="0" b="0"/>
          <a:stretch/>
        </p:blipFill>
        <p:spPr>
          <a:xfrm>
            <a:off x="540544" y="2895600"/>
            <a:ext cx="200025" cy="2000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sp>
        <p:nvSpPr>
          <p:cNvPr id="3" name="Shape 0"/>
          <p:cNvSpPr/>
          <p:nvPr/>
        </p:nvSpPr>
        <p:spPr>
          <a:xfrm>
            <a:off x="119063" y="85725"/>
            <a:ext cx="8915400" cy="4967288"/>
          </a:xfrm>
          <a:prstGeom prst="roundRect">
            <a:avLst>
              <a:gd name="adj" fmla="val 2209"/>
            </a:avLst>
          </a:prstGeom>
          <a:solidFill>
            <a:srgbClr val="171717"/>
          </a:solidFill>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081463" y="2043113"/>
          <a:ext cx="4887914" cy="1676400"/>
        </p:xfrm>
        <a:graphic>
          <a:graphicData uri="http://schemas.openxmlformats.org/drawingml/2006/table">
            <a:tbl>
              <a:tblPr/>
              <a:tblGrid>
                <a:gridCol w="2443957"/>
                <a:gridCol w="2443957"/>
              </a:tblGrid>
              <a:tr h="419100">
                <a:tc>
                  <a:txBody>
                    <a:bodyPr/>
                    <a:lstStyle/>
                    <a:p>
                      <a:pPr algn="l" indent="0" marL="0">
                        <a:lnSpc>
                          <a:spcPts val="1693"/>
                        </a:lnSpc>
                        <a:buNone/>
                      </a:pPr>
                      <a:r>
                        <a:rPr lang="en-US" sz="1283" b="1" spc="-26" kern="0" dirty="0">
                          <a:solidFill>
                            <a:srgbClr val="FBFAFB">
                              <a:alpha val="99000"/>
                            </a:srgbClr>
                          </a:solidFill>
                          <a:latin typeface="Rethink Sans" pitchFamily="34" charset="0"/>
                          <a:ea typeface="Rethink Sans" pitchFamily="34" charset="-122"/>
                          <a:cs typeface="Rethink Sans" pitchFamily="34" charset="-120"/>
                        </a:rPr>
                        <a:t>weiblich ♀</a:t>
                      </a:r>
                      <a:endParaRPr lang="en-US" sz="1200" dirty="0"/>
                    </a:p>
                  </a:txBody>
                  <a:tcPr marL="91440" marR="91440" marT="45720" marB="45720">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313131"/>
                    </a:solidFill>
                  </a:tcPr>
                </a:tc>
                <a:tc>
                  <a:txBody>
                    <a:bodyPr/>
                    <a:lstStyle/>
                    <a:p>
                      <a:pPr algn="l" indent="0" marL="0">
                        <a:lnSpc>
                          <a:spcPts val="1693"/>
                        </a:lnSpc>
                        <a:buNone/>
                      </a:pPr>
                      <a:r>
                        <a:rPr lang="en-US" sz="1283" b="1" spc="-26" kern="0" dirty="0">
                          <a:solidFill>
                            <a:srgbClr val="FBFAFB">
                              <a:alpha val="99000"/>
                            </a:srgbClr>
                          </a:solidFill>
                          <a:latin typeface="Rethink Sans" pitchFamily="34" charset="0"/>
                          <a:ea typeface="Rethink Sans" pitchFamily="34" charset="-122"/>
                          <a:cs typeface="Rethink Sans" pitchFamily="34" charset="-120"/>
                        </a:rPr>
                        <a:t>männlich ♂</a:t>
                      </a:r>
                      <a:endParaRPr lang="en-US" sz="1200" dirty="0"/>
                    </a:p>
                  </a:txBody>
                  <a:tcPr marL="91440" marR="91440" marT="45720" marB="45720">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313131"/>
                    </a:solidFill>
                  </a:tcPr>
                </a:tc>
              </a:tr>
              <a:tr h="419100">
                <a:tc>
                  <a:txBody>
                    <a:bodyPr/>
                    <a:lstStyle/>
                    <a:p>
                      <a:pPr algn="l" indent="0" marL="0">
                        <a:lnSpc>
                          <a:spcPts val="1693"/>
                        </a:lnSpc>
                        <a:buNone/>
                      </a:pPr>
                      <a:r>
                        <a:rPr lang="en-US" sz="1283" b="1" spc="-26" kern="0" dirty="0">
                          <a:solidFill>
                            <a:srgbClr val="FBFAFB">
                              <a:alpha val="99000"/>
                            </a:srgbClr>
                          </a:solidFill>
                          <a:latin typeface="Rethink Sans" pitchFamily="34" charset="0"/>
                          <a:ea typeface="Rethink Sans" pitchFamily="34" charset="-122"/>
                          <a:cs typeface="Rethink Sans" pitchFamily="34" charset="-120"/>
                        </a:rPr>
                        <a:t>en_US-amy</a:t>
                      </a:r>
                      <a:endParaRPr lang="en-US" sz="1200" dirty="0"/>
                    </a:p>
                  </a:txBody>
                  <a:tcPr marL="91440" marR="91440" marT="45720" marB="45720">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313131"/>
                    </a:solidFill>
                  </a:tcPr>
                </a:tc>
                <a:tc>
                  <a:txBody>
                    <a:bodyPr/>
                    <a:lstStyle/>
                    <a:p>
                      <a:pPr algn="l" indent="0" marL="0">
                        <a:lnSpc>
                          <a:spcPts val="1693"/>
                        </a:lnSpc>
                        <a:buNone/>
                      </a:pPr>
                      <a:r>
                        <a:rPr lang="en-US" sz="1283" b="1" spc="-26" kern="0" dirty="0">
                          <a:solidFill>
                            <a:srgbClr val="FBFAFB">
                              <a:alpha val="99000"/>
                            </a:srgbClr>
                          </a:solidFill>
                          <a:latin typeface="Rethink Sans" pitchFamily="34" charset="0"/>
                          <a:ea typeface="Rethink Sans" pitchFamily="34" charset="-122"/>
                          <a:cs typeface="Rethink Sans" pitchFamily="34" charset="-120"/>
                        </a:rPr>
                        <a:t>en_US-ryan
</a:t>
                      </a:r>
                      <a:endParaRPr lang="en-US" sz="1200" dirty="0"/>
                    </a:p>
                  </a:txBody>
                  <a:tcPr marL="91440" marR="91440" marT="45720" marB="45720">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313131"/>
                    </a:solidFill>
                  </a:tcPr>
                </a:tc>
              </a:tr>
              <a:tr h="419100">
                <a:tc>
                  <a:txBody>
                    <a:bodyPr/>
                    <a:lstStyle/>
                    <a:p>
                      <a:pPr algn="l" indent="0" marL="0">
                        <a:lnSpc>
                          <a:spcPts val="1693"/>
                        </a:lnSpc>
                        <a:buNone/>
                      </a:pPr>
                      <a:r>
                        <a:rPr lang="en-US" sz="1283" b="1" spc="-26" kern="0" dirty="0">
                          <a:solidFill>
                            <a:srgbClr val="FBFAFB">
                              <a:alpha val="99000"/>
                            </a:srgbClr>
                          </a:solidFill>
                          <a:latin typeface="Rethink Sans" pitchFamily="34" charset="0"/>
                          <a:ea typeface="Rethink Sans" pitchFamily="34" charset="-122"/>
                          <a:cs typeface="Rethink Sans" pitchFamily="34" charset="-120"/>
                        </a:rPr>
                        <a:t>en_US-kristin
</a:t>
                      </a:r>
                      <a:endParaRPr lang="en-US" sz="1200" dirty="0"/>
                    </a:p>
                  </a:txBody>
                  <a:tcPr marL="91440" marR="91440" marT="45720" marB="45720">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313131"/>
                    </a:solidFill>
                  </a:tcPr>
                </a:tc>
                <a:tc>
                  <a:txBody>
                    <a:bodyPr/>
                    <a:lstStyle/>
                    <a:p>
                      <a:pPr algn="l" indent="0" marL="0">
                        <a:lnSpc>
                          <a:spcPts val="1693"/>
                        </a:lnSpc>
                        <a:buNone/>
                      </a:pPr>
                      <a:r>
                        <a:rPr lang="en-US" sz="1283" b="1" spc="-26" kern="0" dirty="0">
                          <a:solidFill>
                            <a:srgbClr val="FBFAFB">
                              <a:alpha val="99000"/>
                            </a:srgbClr>
                          </a:solidFill>
                          <a:latin typeface="Rethink Sans" pitchFamily="34" charset="0"/>
                          <a:ea typeface="Rethink Sans" pitchFamily="34" charset="-122"/>
                          <a:cs typeface="Rethink Sans" pitchFamily="34" charset="-120"/>
                        </a:rPr>
                        <a:t>en_US-joe
</a:t>
                      </a:r>
                      <a:endParaRPr lang="en-US" sz="1200" dirty="0"/>
                    </a:p>
                  </a:txBody>
                  <a:tcPr marL="91440" marR="91440" marT="45720" marB="45720">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313131"/>
                    </a:solidFill>
                  </a:tcPr>
                </a:tc>
              </a:tr>
              <a:tr h="419100">
                <a:tc>
                  <a:txBody>
                    <a:bodyPr/>
                    <a:lstStyle/>
                    <a:p>
                      <a:pPr algn="l" indent="0" marL="0">
                        <a:lnSpc>
                          <a:spcPts val="1693"/>
                        </a:lnSpc>
                        <a:buNone/>
                      </a:pPr>
                      <a:r>
                        <a:rPr lang="en-US" sz="1283" b="1" spc="-26" kern="0" dirty="0">
                          <a:solidFill>
                            <a:srgbClr val="FBFAFB">
                              <a:alpha val="99000"/>
                            </a:srgbClr>
                          </a:solidFill>
                          <a:latin typeface="Rethink Sans" pitchFamily="34" charset="0"/>
                          <a:ea typeface="Rethink Sans" pitchFamily="34" charset="-122"/>
                          <a:cs typeface="Rethink Sans" pitchFamily="34" charset="-120"/>
                        </a:rPr>
                        <a:t>en_US-lessac
</a:t>
                      </a:r>
                      <a:endParaRPr lang="en-US" sz="1200" dirty="0"/>
                    </a:p>
                  </a:txBody>
                  <a:tcPr marL="91440" marR="91440" marT="45720" marB="45720">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313131"/>
                    </a:solidFill>
                  </a:tcPr>
                </a:tc>
                <a:tc>
                  <a:txBody>
                    <a:bodyPr/>
                    <a:lstStyle/>
                    <a:p>
                      <a:pPr algn="l" indent="0" marL="0">
                        <a:lnSpc>
                          <a:spcPts val="1693"/>
                        </a:lnSpc>
                        <a:buNone/>
                      </a:pPr>
                      <a:r>
                        <a:rPr lang="en-US" sz="1283" b="1" spc="-26" kern="0" dirty="0">
                          <a:solidFill>
                            <a:srgbClr val="FBFAFB">
                              <a:alpha val="99000"/>
                            </a:srgbClr>
                          </a:solidFill>
                          <a:latin typeface="Rethink Sans" pitchFamily="34" charset="0"/>
                          <a:ea typeface="Rethink Sans" pitchFamily="34" charset="-122"/>
                          <a:cs typeface="Rethink Sans" pitchFamily="34" charset="-120"/>
                        </a:rPr>
                        <a:t>en_US-danny
</a:t>
                      </a:r>
                      <a:endParaRPr lang="en-US" sz="1200" dirty="0"/>
                    </a:p>
                  </a:txBody>
                  <a:tcPr marL="91440" marR="91440" marT="45720" marB="45720">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313131"/>
                    </a:solidFill>
                  </a:tcPr>
                </a:tc>
              </a:tr>
            </a:tbl>
          </a:graphicData>
        </a:graphic>
      </p:graphicFrame>
      <p:pic>
        <p:nvPicPr>
          <p:cNvPr id="5" name="Image 0" descr="preencoded.png">    </p:cNvPr>
          <p:cNvPicPr>
            <a:picLocks noChangeAspect="1"/>
          </p:cNvPicPr>
          <p:nvPr/>
        </p:nvPicPr>
        <p:blipFill>
          <a:blip r:embed="rId1"/>
          <a:srcRect l="0" r="0" t="0" b="0"/>
          <a:stretch/>
        </p:blipFill>
        <p:spPr>
          <a:xfrm>
            <a:off x="266700" y="1876425"/>
            <a:ext cx="114300" cy="114300"/>
          </a:xfrm>
          <a:prstGeom prst="rect">
            <a:avLst/>
          </a:prstGeom>
        </p:spPr>
      </p:pic>
      <p:pic>
        <p:nvPicPr>
          <p:cNvPr id="6" name="Image 1" descr="preencoded.png">    </p:cNvPr>
          <p:cNvPicPr>
            <a:picLocks noChangeAspect="1"/>
          </p:cNvPicPr>
          <p:nvPr/>
        </p:nvPicPr>
        <p:blipFill>
          <a:blip r:embed="rId2"/>
          <a:srcRect l="0" r="0" t="0" b="0"/>
          <a:stretch/>
        </p:blipFill>
        <p:spPr>
          <a:xfrm>
            <a:off x="7734300" y="3005138"/>
            <a:ext cx="204788" cy="190500"/>
          </a:xfrm>
          <a:prstGeom prst="rect">
            <a:avLst/>
          </a:prstGeom>
        </p:spPr>
      </p:pic>
      <p:pic>
        <p:nvPicPr>
          <p:cNvPr id="7" name="Image 2" descr="preencoded.png">    </p:cNvPr>
          <p:cNvPicPr>
            <a:picLocks noChangeAspect="1"/>
          </p:cNvPicPr>
          <p:nvPr/>
        </p:nvPicPr>
        <p:blipFill>
          <a:blip r:embed="rId3"/>
          <a:srcRect l="0" r="0" t="0" b="0"/>
          <a:stretch/>
        </p:blipFill>
        <p:spPr>
          <a:xfrm>
            <a:off x="5295900" y="2576513"/>
            <a:ext cx="204788" cy="190500"/>
          </a:xfrm>
          <a:prstGeom prst="rect">
            <a:avLst/>
          </a:prstGeom>
        </p:spPr>
      </p:pic>
      <p:pic>
        <p:nvPicPr>
          <p:cNvPr id="8" name="Image 3" descr="preencoded.png">    </p:cNvPr>
          <p:cNvPicPr>
            <a:picLocks noChangeAspect="1"/>
          </p:cNvPicPr>
          <p:nvPr/>
        </p:nvPicPr>
        <p:blipFill>
          <a:blip r:embed="rId4"/>
          <a:srcRect l="0" r="0" t="0" b="0"/>
          <a:stretch/>
        </p:blipFill>
        <p:spPr>
          <a:xfrm>
            <a:off x="5295900" y="3005138"/>
            <a:ext cx="204788" cy="190500"/>
          </a:xfrm>
          <a:prstGeom prst="rect">
            <a:avLst/>
          </a:prstGeom>
        </p:spPr>
      </p:pic>
      <p:pic>
        <p:nvPicPr>
          <p:cNvPr id="9" name="Image 4" descr="preencoded.png">    </p:cNvPr>
          <p:cNvPicPr>
            <a:picLocks noChangeAspect="1"/>
          </p:cNvPicPr>
          <p:nvPr/>
        </p:nvPicPr>
        <p:blipFill>
          <a:blip r:embed="rId5"/>
          <a:srcRect l="0" r="0" t="0" b="0"/>
          <a:stretch/>
        </p:blipFill>
        <p:spPr>
          <a:xfrm>
            <a:off x="5295900" y="3414713"/>
            <a:ext cx="204788" cy="190500"/>
          </a:xfrm>
          <a:prstGeom prst="rect">
            <a:avLst/>
          </a:prstGeom>
        </p:spPr>
      </p:pic>
      <p:pic>
        <p:nvPicPr>
          <p:cNvPr id="10" name="Image 5" descr="preencoded.png">    </p:cNvPr>
          <p:cNvPicPr>
            <a:picLocks noChangeAspect="1"/>
          </p:cNvPicPr>
          <p:nvPr/>
        </p:nvPicPr>
        <p:blipFill>
          <a:blip r:embed="rId6"/>
          <a:srcRect l="0" r="0" t="0" b="0"/>
          <a:stretch/>
        </p:blipFill>
        <p:spPr>
          <a:xfrm>
            <a:off x="7734300" y="2576513"/>
            <a:ext cx="204788" cy="190500"/>
          </a:xfrm>
          <a:prstGeom prst="rect">
            <a:avLst/>
          </a:prstGeom>
        </p:spPr>
      </p:pic>
      <p:pic>
        <p:nvPicPr>
          <p:cNvPr id="11" name="Image 6" descr="preencoded.png">    </p:cNvPr>
          <p:cNvPicPr>
            <a:picLocks noChangeAspect="1"/>
          </p:cNvPicPr>
          <p:nvPr/>
        </p:nvPicPr>
        <p:blipFill>
          <a:blip r:embed="rId7"/>
          <a:srcRect l="0" r="0" t="0" b="0"/>
          <a:stretch/>
        </p:blipFill>
        <p:spPr>
          <a:xfrm>
            <a:off x="7734300" y="3414713"/>
            <a:ext cx="204788" cy="190500"/>
          </a:xfrm>
          <a:prstGeom prst="rect">
            <a:avLst/>
          </a:prstGeom>
        </p:spPr>
      </p:pic>
      <p:sp>
        <p:nvSpPr>
          <p:cNvPr id="12" name="Text 1"/>
          <p:cNvSpPr/>
          <p:nvPr/>
        </p:nvSpPr>
        <p:spPr>
          <a:xfrm>
            <a:off x="1347788" y="1704975"/>
            <a:ext cx="2439987" cy="228600"/>
          </a:xfrm>
          <a:prstGeom prst="rect">
            <a:avLst/>
          </a:prstGeom>
          <a:noFill/>
          <a:ln/>
        </p:spPr>
        <p:txBody>
          <a:bodyPr wrap="square" lIns="0" tIns="0" rIns="0" bIns="0" rtlCol="0" anchor="t"/>
          <a:lstStyle/>
          <a:p>
            <a:pPr algn="l" indent="0" marL="0">
              <a:lnSpc>
                <a:spcPts val="1693"/>
              </a:lnSpc>
              <a:buNone/>
            </a:pPr>
            <a:r>
              <a:rPr lang="en-US" sz="1283" b="1" spc="-26" kern="0" dirty="0">
                <a:solidFill>
                  <a:srgbClr val="FBFAFB">
                    <a:alpha val="99000"/>
                  </a:srgbClr>
                </a:solidFill>
                <a:latin typeface="Inter" pitchFamily="34" charset="0"/>
                <a:ea typeface="Inter" pitchFamily="34" charset="-122"/>
                <a:cs typeface="Inter" pitchFamily="34" charset="-120"/>
              </a:rPr>
              <a:t>Harvard Sentences</a:t>
            </a:r>
            <a:endParaRPr lang="en-US" sz="1283" dirty="0"/>
          </a:p>
        </p:txBody>
      </p:sp>
      <p:sp>
        <p:nvSpPr>
          <p:cNvPr id="13" name="Text 2"/>
          <p:cNvSpPr/>
          <p:nvPr/>
        </p:nvSpPr>
        <p:spPr>
          <a:xfrm>
            <a:off x="5305425" y="1700213"/>
            <a:ext cx="2439987" cy="228600"/>
          </a:xfrm>
          <a:prstGeom prst="rect">
            <a:avLst/>
          </a:prstGeom>
          <a:noFill/>
          <a:ln/>
        </p:spPr>
        <p:txBody>
          <a:bodyPr wrap="square" lIns="0" tIns="0" rIns="0" bIns="0" rtlCol="0" anchor="t"/>
          <a:lstStyle/>
          <a:p>
            <a:pPr algn="l" indent="0" marL="0">
              <a:lnSpc>
                <a:spcPts val="1693"/>
              </a:lnSpc>
              <a:buNone/>
            </a:pPr>
            <a:r>
              <a:rPr lang="en-US" sz="1283" b="1" spc="-26" kern="0" dirty="0">
                <a:solidFill>
                  <a:srgbClr val="FBFAFB">
                    <a:alpha val="99000"/>
                  </a:srgbClr>
                </a:solidFill>
                <a:latin typeface="Inter" pitchFamily="34" charset="0"/>
                <a:ea typeface="Inter" pitchFamily="34" charset="-122"/>
                <a:cs typeface="Inter" pitchFamily="34" charset="-120"/>
              </a:rPr>
              <a:t>PIPER-STIMMEN  (en_US)
</a:t>
            </a:r>
            <a:endParaRPr lang="en-US" sz="1283" dirty="0"/>
          </a:p>
        </p:txBody>
      </p:sp>
      <p:sp>
        <p:nvSpPr>
          <p:cNvPr id="14" name="Text 3"/>
          <p:cNvSpPr/>
          <p:nvPr/>
        </p:nvSpPr>
        <p:spPr>
          <a:xfrm>
            <a:off x="366713" y="395288"/>
            <a:ext cx="4886325" cy="547688"/>
          </a:xfrm>
          <a:prstGeom prst="rect">
            <a:avLst/>
          </a:prstGeom>
          <a:noFill/>
          <a:ln/>
        </p:spPr>
        <p:txBody>
          <a:bodyPr wrap="square" lIns="0" tIns="0" rIns="0" bIns="0" rtlCol="0" anchor="ctr"/>
          <a:lstStyle/>
          <a:p>
            <a:pPr algn="l" indent="0" marL="0">
              <a:lnSpc>
                <a:spcPts val="4104"/>
              </a:lnSpc>
              <a:buNone/>
            </a:pPr>
            <a:r>
              <a:rPr lang="en-US" sz="3420" b="1" spc="-75" kern="0" dirty="0">
                <a:solidFill>
                  <a:srgbClr val="FFFFFF">
                    <a:alpha val="99000"/>
                  </a:srgbClr>
                </a:solidFill>
                <a:latin typeface="Rethink Sans" pitchFamily="34" charset="0"/>
                <a:ea typeface="Rethink Sans" pitchFamily="34" charset="-122"/>
                <a:cs typeface="Rethink Sans" pitchFamily="34" charset="-120"/>
              </a:rPr>
              <a:t>Datenmaterial</a:t>
            </a:r>
            <a:endParaRPr lang="en-US" sz="3420" dirty="0"/>
          </a:p>
        </p:txBody>
      </p:sp>
      <p:sp>
        <p:nvSpPr>
          <p:cNvPr id="15" name="Text 4"/>
          <p:cNvSpPr/>
          <p:nvPr/>
        </p:nvSpPr>
        <p:spPr>
          <a:xfrm>
            <a:off x="381000" y="4710113"/>
            <a:ext cx="4495800" cy="133350"/>
          </a:xfrm>
          <a:prstGeom prst="rect">
            <a:avLst/>
          </a:prstGeom>
          <a:noFill/>
          <a:ln/>
        </p:spPr>
        <p:txBody>
          <a:bodyPr wrap="square" lIns="0" tIns="0" rIns="0" bIns="0" rtlCol="0" anchor="t"/>
          <a:lstStyle/>
          <a:p>
            <a:pPr algn="l" indent="0" marL="0">
              <a:lnSpc>
                <a:spcPts val="998"/>
              </a:lnSpc>
              <a:buNone/>
            </a:pPr>
            <a:r>
              <a:rPr lang="en-US" sz="713" dirty="0">
                <a:solidFill>
                  <a:srgbClr val="606063">
                    <a:alpha val="99000"/>
                  </a:srgbClr>
                </a:solidFill>
                <a:latin typeface="Rethink Sans" pitchFamily="34" charset="0"/>
                <a:ea typeface="Rethink Sans" pitchFamily="34" charset="-122"/>
                <a:cs typeface="Rethink Sans" pitchFamily="34" charset="-120"/>
              </a:rPr>
              <a:t>113457a Speech Interaction | Lars Gerigk (lg107) | Nils Fink (nf056)</a:t>
            </a:r>
            <a:endParaRPr lang="en-US" sz="713" dirty="0"/>
          </a:p>
        </p:txBody>
      </p:sp>
      <p:sp>
        <p:nvSpPr>
          <p:cNvPr id="16" name="Shape 5"/>
          <p:cNvSpPr/>
          <p:nvPr/>
        </p:nvSpPr>
        <p:spPr>
          <a:xfrm rot="15045">
            <a:off x="366713" y="919162"/>
            <a:ext cx="2166958" cy="0"/>
          </a:xfrm>
          <a:prstGeom prst="line">
            <a:avLst/>
          </a:prstGeom>
          <a:noFill/>
          <a:ln w="18097">
            <a:solidFill>
              <a:srgbClr val="41B883"/>
            </a:solidFill>
            <a:prstDash val="solid"/>
          </a:ln>
        </p:spPr>
      </p:sp>
      <p:sp>
        <p:nvSpPr>
          <p:cNvPr id="17" name="Text 6"/>
          <p:cNvSpPr/>
          <p:nvPr/>
        </p:nvSpPr>
        <p:spPr>
          <a:xfrm>
            <a:off x="1243013" y="2238375"/>
            <a:ext cx="2743200" cy="1285875"/>
          </a:xfrm>
          <a:prstGeom prst="rect">
            <a:avLst/>
          </a:prstGeom>
          <a:noFill/>
          <a:ln/>
        </p:spPr>
        <p:txBody>
          <a:bodyPr wrap="square" lIns="0" tIns="0" rIns="0" bIns="0" rtlCol="0" anchor="t"/>
          <a:lstStyle/>
          <a:p>
            <a:pPr algn="l" indent="0" marL="0">
              <a:lnSpc>
                <a:spcPts val="3206"/>
              </a:lnSpc>
              <a:buNone/>
            </a:pPr>
            <a:r>
              <a:rPr lang="en-US" sz="1283" spc="-13" kern="0" dirty="0">
                <a:solidFill>
                  <a:srgbClr val="FBFAFB">
                    <a:alpha val="99000"/>
                  </a:srgbClr>
                </a:solidFill>
                <a:latin typeface="Rethink Sans" pitchFamily="34" charset="0"/>
                <a:ea typeface="Rethink Sans" pitchFamily="34" charset="-122"/>
                <a:cs typeface="Rethink Sans" pitchFamily="34" charset="-120"/>
              </a:rPr>
              <a:t>Phonetisch ausgewogen</a:t>
            </a:r>
            <a:endParaRPr lang="en-US" sz="1283" dirty="0"/>
          </a:p>
          <a:p>
            <a:pPr algn="l" indent="0" marL="0">
              <a:lnSpc>
                <a:spcPts val="3206"/>
              </a:lnSpc>
              <a:buNone/>
            </a:pPr>
            <a:r>
              <a:rPr lang="en-US" sz="1283" spc="-13" kern="0" dirty="0">
                <a:solidFill>
                  <a:srgbClr val="FBFAFB">
                    <a:alpha val="99000"/>
                  </a:srgbClr>
                </a:solidFill>
                <a:latin typeface="Rethink Sans" pitchFamily="34" charset="0"/>
                <a:ea typeface="Rethink Sans" pitchFamily="34" charset="-122"/>
                <a:cs typeface="Rethink Sans" pitchFamily="34" charset="-120"/>
              </a:rPr>
              <a:t>Standardisiert &amp; reproduzierbar
 </a:t>
            </a:r>
            <a:endParaRPr lang="en-US" sz="1283" dirty="0"/>
          </a:p>
          <a:p>
            <a:pPr algn="l" indent="0" marL="0">
              <a:lnSpc>
                <a:spcPts val="3206"/>
              </a:lnSpc>
              <a:buNone/>
            </a:pPr>
            <a:r>
              <a:rPr lang="en-US" sz="1283" spc="-13" kern="0" dirty="0">
                <a:solidFill>
                  <a:srgbClr val="FBFAFB">
                    <a:alpha val="99000"/>
                  </a:srgbClr>
                </a:solidFill>
                <a:latin typeface="Rethink Sans" pitchFamily="34" charset="0"/>
                <a:ea typeface="Rethink Sans" pitchFamily="34" charset="-122"/>
                <a:cs typeface="Rethink Sans" pitchFamily="34" charset="-120"/>
              </a:rPr>
              <a:t>Referenz für Verständlichkeitstests</a:t>
            </a:r>
            <a:endParaRPr lang="en-US" sz="1283" dirty="0"/>
          </a:p>
        </p:txBody>
      </p:sp>
      <p:sp>
        <p:nvSpPr>
          <p:cNvPr id="18" name="Text 7"/>
          <p:cNvSpPr/>
          <p:nvPr/>
        </p:nvSpPr>
        <p:spPr>
          <a:xfrm>
            <a:off x="647700" y="2324100"/>
            <a:ext cx="280988" cy="280988"/>
          </a:xfrm>
          <a:prstGeom prst="ellipse">
            <a:avLst/>
          </a:prstGeom>
          <a:solidFill>
            <a:srgbClr val="41B883"/>
          </a:solidFill>
          <a:ln/>
        </p:spPr>
        <p:txBody>
          <a:bodyPr wrap="square" rtlCol="0" anchor="ctr"/>
          <a:lstStyle/>
          <a:p>
            <a:pPr indent="0" marL="0">
              <a:buNone/>
            </a:pPr>
            <a:endParaRPr lang="en-US" dirty="0"/>
          </a:p>
        </p:txBody>
      </p:sp>
      <p:sp>
        <p:nvSpPr>
          <p:cNvPr id="19" name="Text 8"/>
          <p:cNvSpPr/>
          <p:nvPr/>
        </p:nvSpPr>
        <p:spPr>
          <a:xfrm>
            <a:off x="647700" y="2738438"/>
            <a:ext cx="280988" cy="280988"/>
          </a:xfrm>
          <a:prstGeom prst="ellipse">
            <a:avLst/>
          </a:prstGeom>
          <a:solidFill>
            <a:srgbClr val="41B883"/>
          </a:solidFill>
          <a:ln/>
        </p:spPr>
        <p:txBody>
          <a:bodyPr wrap="square" rtlCol="0" anchor="ctr"/>
          <a:lstStyle/>
          <a:p>
            <a:pPr indent="0" marL="0">
              <a:buNone/>
            </a:pPr>
            <a:endParaRPr lang="en-US" dirty="0"/>
          </a:p>
        </p:txBody>
      </p:sp>
      <p:sp>
        <p:nvSpPr>
          <p:cNvPr id="20" name="Text 9"/>
          <p:cNvSpPr/>
          <p:nvPr/>
        </p:nvSpPr>
        <p:spPr>
          <a:xfrm>
            <a:off x="647700" y="3162300"/>
            <a:ext cx="280988" cy="280988"/>
          </a:xfrm>
          <a:prstGeom prst="ellipse">
            <a:avLst/>
          </a:prstGeom>
          <a:solidFill>
            <a:srgbClr val="41B883"/>
          </a:solidFill>
          <a:ln/>
        </p:spPr>
        <p:txBody>
          <a:bodyPr wrap="square" rtlCol="0" anchor="ctr"/>
          <a:lstStyle/>
          <a:p>
            <a:pPr indent="0" marL="0">
              <a:buNone/>
            </a:pPr>
            <a:endParaRPr lang="en-US" dirty="0"/>
          </a:p>
        </p:txBody>
      </p:sp>
      <p:pic>
        <p:nvPicPr>
          <p:cNvPr id="21" name="Image 7" descr="preencoded.png">    </p:cNvPr>
          <p:cNvPicPr>
            <a:picLocks noChangeAspect="1"/>
          </p:cNvPicPr>
          <p:nvPr/>
        </p:nvPicPr>
        <p:blipFill>
          <a:blip r:embed="rId8"/>
          <a:srcRect l="0" r="0" t="0" b="0"/>
          <a:stretch/>
        </p:blipFill>
        <p:spPr>
          <a:xfrm>
            <a:off x="692944" y="2366963"/>
            <a:ext cx="200025" cy="200025"/>
          </a:xfrm>
          <a:prstGeom prst="rect">
            <a:avLst/>
          </a:prstGeom>
        </p:spPr>
      </p:pic>
      <p:pic>
        <p:nvPicPr>
          <p:cNvPr id="22" name="Image 8" descr="preencoded.png">    </p:cNvPr>
          <p:cNvPicPr>
            <a:picLocks noChangeAspect="1"/>
          </p:cNvPicPr>
          <p:nvPr/>
        </p:nvPicPr>
        <p:blipFill>
          <a:blip r:embed="rId9"/>
          <a:srcRect l="0" r="0" t="0" b="0"/>
          <a:stretch/>
        </p:blipFill>
        <p:spPr>
          <a:xfrm>
            <a:off x="692944" y="2786063"/>
            <a:ext cx="200025" cy="200025"/>
          </a:xfrm>
          <a:prstGeom prst="rect">
            <a:avLst/>
          </a:prstGeom>
        </p:spPr>
      </p:pic>
      <p:pic>
        <p:nvPicPr>
          <p:cNvPr id="23" name="Image 9" descr="preencoded.png">    </p:cNvPr>
          <p:cNvPicPr>
            <a:picLocks noChangeAspect="1"/>
          </p:cNvPicPr>
          <p:nvPr/>
        </p:nvPicPr>
        <p:blipFill>
          <a:blip r:embed="rId10"/>
          <a:srcRect l="0" r="0" t="0" b="0"/>
          <a:stretch/>
        </p:blipFill>
        <p:spPr>
          <a:xfrm>
            <a:off x="692944" y="3205163"/>
            <a:ext cx="200025" cy="2000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3" name="Shape 0"/>
          <p:cNvSpPr/>
          <p:nvPr/>
        </p:nvSpPr>
        <p:spPr>
          <a:xfrm>
            <a:off x="257175" y="266700"/>
            <a:ext cx="4148137" cy="4605338"/>
          </a:xfrm>
          <a:prstGeom prst="roundRect">
            <a:avLst>
              <a:gd name="adj" fmla="val 5290"/>
            </a:avLst>
          </a:prstGeom>
          <a:solidFill>
            <a:srgbClr val="171717"/>
          </a:solidFill>
          <a:ln/>
        </p:spPr>
      </p:sp>
      <p:pic>
        <p:nvPicPr>
          <p:cNvPr id="4" name="Image 0" descr="preencoded.png">    </p:cNvPr>
          <p:cNvPicPr>
            <a:picLocks noChangeAspect="1"/>
          </p:cNvPicPr>
          <p:nvPr/>
        </p:nvPicPr>
        <p:blipFill>
          <a:blip r:embed="rId1"/>
          <a:srcRect l="0" r="0" t="0" b="0"/>
          <a:stretch/>
        </p:blipFill>
        <p:spPr>
          <a:xfrm>
            <a:off x="623888" y="2266950"/>
            <a:ext cx="3419475" cy="1990725"/>
          </a:xfrm>
          <a:prstGeom prst="rect">
            <a:avLst/>
          </a:prstGeom>
        </p:spPr>
      </p:pic>
      <p:sp>
        <p:nvSpPr>
          <p:cNvPr id="5" name="Text 1"/>
          <p:cNvSpPr/>
          <p:nvPr/>
        </p:nvSpPr>
        <p:spPr>
          <a:xfrm>
            <a:off x="1038225" y="1466850"/>
            <a:ext cx="2586038" cy="547688"/>
          </a:xfrm>
          <a:prstGeom prst="rect">
            <a:avLst/>
          </a:prstGeom>
          <a:noFill/>
          <a:ln/>
        </p:spPr>
        <p:txBody>
          <a:bodyPr wrap="square" lIns="0" tIns="0" rIns="0" bIns="0" rtlCol="0" anchor="t"/>
          <a:lstStyle/>
          <a:p>
            <a:pPr algn="l" indent="0" marL="0">
              <a:lnSpc>
                <a:spcPts val="4104"/>
              </a:lnSpc>
              <a:buNone/>
            </a:pPr>
            <a:r>
              <a:rPr lang="en-US" sz="3420" b="1" spc="-75" kern="0" dirty="0">
                <a:solidFill>
                  <a:srgbClr val="FFFFFF">
                    <a:alpha val="99000"/>
                  </a:srgbClr>
                </a:solidFill>
                <a:latin typeface="Rethink Sans" pitchFamily="34" charset="0"/>
                <a:ea typeface="Rethink Sans" pitchFamily="34" charset="-122"/>
                <a:cs typeface="Rethink Sans" pitchFamily="34" charset="-120"/>
              </a:rPr>
              <a:t>Rauschtypen</a:t>
            </a:r>
            <a:endParaRPr lang="en-US" sz="3420" dirty="0"/>
          </a:p>
        </p:txBody>
      </p:sp>
      <p:sp>
        <p:nvSpPr>
          <p:cNvPr id="6" name="Shape 2"/>
          <p:cNvSpPr/>
          <p:nvPr/>
        </p:nvSpPr>
        <p:spPr>
          <a:xfrm>
            <a:off x="4572000" y="266700"/>
            <a:ext cx="4338638" cy="1414463"/>
          </a:xfrm>
          <a:prstGeom prst="roundRect">
            <a:avLst>
              <a:gd name="adj" fmla="val 15515"/>
            </a:avLst>
          </a:prstGeom>
          <a:solidFill>
            <a:srgbClr val="171717"/>
          </a:solidFill>
          <a:ln/>
        </p:spPr>
      </p:sp>
      <p:pic>
        <p:nvPicPr>
          <p:cNvPr id="7" name="Image 1" descr="preencoded.png">    </p:cNvPr>
          <p:cNvPicPr>
            <a:picLocks noChangeAspect="1"/>
          </p:cNvPicPr>
          <p:nvPr/>
        </p:nvPicPr>
        <p:blipFill>
          <a:blip r:embed="rId2"/>
          <a:srcRect l="0" r="0" t="0" b="0"/>
          <a:stretch/>
        </p:blipFill>
        <p:spPr>
          <a:xfrm>
            <a:off x="4719638" y="352425"/>
            <a:ext cx="266700" cy="266700"/>
          </a:xfrm>
          <a:prstGeom prst="rect">
            <a:avLst/>
          </a:prstGeom>
        </p:spPr>
      </p:pic>
      <p:pic>
        <p:nvPicPr>
          <p:cNvPr id="8" name="Image 2" descr="preencoded.png">    </p:cNvPr>
          <p:cNvPicPr>
            <a:picLocks noChangeAspect="1"/>
          </p:cNvPicPr>
          <p:nvPr/>
        </p:nvPicPr>
        <p:blipFill>
          <a:blip r:embed="rId3"/>
          <a:srcRect l="0" r="0" t="0" b="0"/>
          <a:stretch/>
        </p:blipFill>
        <p:spPr>
          <a:xfrm>
            <a:off x="4719638" y="352425"/>
            <a:ext cx="266700" cy="266700"/>
          </a:xfrm>
          <a:prstGeom prst="rect">
            <a:avLst/>
          </a:prstGeom>
        </p:spPr>
      </p:pic>
      <p:sp>
        <p:nvSpPr>
          <p:cNvPr id="9" name="Text 3"/>
          <p:cNvSpPr/>
          <p:nvPr/>
        </p:nvSpPr>
        <p:spPr>
          <a:xfrm>
            <a:off x="5081588" y="547688"/>
            <a:ext cx="3924300" cy="361950"/>
          </a:xfrm>
          <a:prstGeom prst="rect">
            <a:avLst/>
          </a:prstGeom>
          <a:noFill/>
          <a:ln/>
        </p:spPr>
        <p:txBody>
          <a:bodyPr wrap="square" lIns="0" tIns="0" rIns="0" bIns="0" rtlCol="0" anchor="t"/>
          <a:lstStyle/>
          <a:p>
            <a:pPr algn="l" indent="0" marL="0">
              <a:lnSpc>
                <a:spcPts val="3206"/>
              </a:lnSpc>
              <a:buNone/>
            </a:pPr>
            <a:r>
              <a:rPr lang="en-US" sz="1283" spc="-13" kern="0" dirty="0">
                <a:solidFill>
                  <a:srgbClr val="FBFAFB">
                    <a:alpha val="99000"/>
                  </a:srgbClr>
                </a:solidFill>
                <a:latin typeface="Rethink Sans" pitchFamily="34" charset="0"/>
                <a:ea typeface="Rethink Sans" pitchFamily="34" charset="-122"/>
                <a:cs typeface="Rethink Sans" pitchFamily="34" charset="-120"/>
              </a:rPr>
              <a:t>Gleichmäßiges Breitbandrauschen
</a:t>
            </a:r>
            <a:endParaRPr lang="en-US" sz="1283" dirty="0"/>
          </a:p>
        </p:txBody>
      </p:sp>
      <p:sp>
        <p:nvSpPr>
          <p:cNvPr id="10" name="Text 4"/>
          <p:cNvSpPr/>
          <p:nvPr/>
        </p:nvSpPr>
        <p:spPr>
          <a:xfrm>
            <a:off x="5081588" y="914400"/>
            <a:ext cx="4081463" cy="576263"/>
          </a:xfrm>
          <a:prstGeom prst="rect">
            <a:avLst/>
          </a:prstGeom>
          <a:noFill/>
          <a:ln/>
        </p:spPr>
        <p:txBody>
          <a:bodyPr wrap="square" lIns="0" tIns="0" rIns="0" bIns="0" rtlCol="0" anchor="t"/>
          <a:lstStyle/>
          <a:p>
            <a:pPr algn="l" indent="0" marL="0">
              <a:lnSpc>
                <a:spcPts val="2138"/>
              </a:lnSpc>
              <a:buNone/>
            </a:pPr>
            <a:r>
              <a:rPr lang="en-US" sz="855" spc="-9" kern="0" dirty="0">
                <a:solidFill>
                  <a:srgbClr val="FBFAFB">
                    <a:alpha val="99000"/>
                  </a:srgbClr>
                </a:solidFill>
                <a:latin typeface="Rethink Sans" pitchFamily="34" charset="0"/>
                <a:ea typeface="Rethink Sans" pitchFamily="34" charset="-122"/>
                <a:cs typeface="Rethink Sans" pitchFamily="34" charset="-120"/>
              </a:rPr>
              <a:t>Alle Frequenzen gleich stark vertreten. Überdeckt vollständig alle Formantenstrukturen und Konsonanten – härtester Stresstest</a:t>
            </a:r>
            <a:endParaRPr lang="en-US" sz="855" dirty="0"/>
          </a:p>
        </p:txBody>
      </p:sp>
      <p:sp>
        <p:nvSpPr>
          <p:cNvPr id="11" name="Text 5"/>
          <p:cNvSpPr/>
          <p:nvPr/>
        </p:nvSpPr>
        <p:spPr>
          <a:xfrm>
            <a:off x="5053013" y="328613"/>
            <a:ext cx="3233738" cy="342900"/>
          </a:xfrm>
          <a:prstGeom prst="rect">
            <a:avLst/>
          </a:prstGeom>
          <a:noFill/>
          <a:ln/>
        </p:spPr>
        <p:txBody>
          <a:bodyPr wrap="square" lIns="0" tIns="0" rIns="0" bIns="0" rtlCol="0" anchor="t"/>
          <a:lstStyle/>
          <a:p>
            <a:pPr algn="l" indent="0" marL="0">
              <a:lnSpc>
                <a:spcPts val="2565"/>
              </a:lnSpc>
              <a:buNone/>
            </a:pPr>
            <a:r>
              <a:rPr lang="en-US" sz="1283" spc="-26" kern="0" dirty="0">
                <a:solidFill>
                  <a:srgbClr val="FFFFFF">
                    <a:alpha val="99000"/>
                  </a:srgbClr>
                </a:solidFill>
                <a:latin typeface="Inter" pitchFamily="34" charset="0"/>
                <a:ea typeface="Inter" pitchFamily="34" charset="-122"/>
                <a:cs typeface="Inter" pitchFamily="34" charset="-120"/>
              </a:rPr>
              <a:t>WHITE NOISE
</a:t>
            </a:r>
            <a:endParaRPr lang="en-US" sz="1283" dirty="0"/>
          </a:p>
        </p:txBody>
      </p:sp>
      <p:sp>
        <p:nvSpPr>
          <p:cNvPr id="12" name="Shape 6"/>
          <p:cNvSpPr/>
          <p:nvPr/>
        </p:nvSpPr>
        <p:spPr>
          <a:xfrm>
            <a:off x="4600575" y="1819275"/>
            <a:ext cx="4338638" cy="1414463"/>
          </a:xfrm>
          <a:prstGeom prst="roundRect">
            <a:avLst>
              <a:gd name="adj" fmla="val 15515"/>
            </a:avLst>
          </a:prstGeom>
          <a:solidFill>
            <a:srgbClr val="171717"/>
          </a:solidFill>
          <a:ln/>
        </p:spPr>
      </p:sp>
      <p:sp>
        <p:nvSpPr>
          <p:cNvPr id="13" name="Text 7"/>
          <p:cNvSpPr/>
          <p:nvPr/>
        </p:nvSpPr>
        <p:spPr>
          <a:xfrm>
            <a:off x="5110163" y="2100263"/>
            <a:ext cx="3924300" cy="361950"/>
          </a:xfrm>
          <a:prstGeom prst="rect">
            <a:avLst/>
          </a:prstGeom>
          <a:noFill/>
          <a:ln/>
        </p:spPr>
        <p:txBody>
          <a:bodyPr wrap="square" lIns="0" tIns="0" rIns="0" bIns="0" rtlCol="0" anchor="t"/>
          <a:lstStyle/>
          <a:p>
            <a:pPr algn="l" indent="0" marL="0">
              <a:lnSpc>
                <a:spcPts val="3206"/>
              </a:lnSpc>
              <a:buNone/>
            </a:pPr>
            <a:r>
              <a:rPr lang="en-US" sz="1283" spc="-13" kern="0" dirty="0">
                <a:solidFill>
                  <a:srgbClr val="FBFAFB">
                    <a:alpha val="99000"/>
                  </a:srgbClr>
                </a:solidFill>
                <a:latin typeface="Rethink Sans" pitchFamily="34" charset="0"/>
                <a:ea typeface="Rethink Sans" pitchFamily="34" charset="-122"/>
                <a:cs typeface="Rethink Sans" pitchFamily="34" charset="-120"/>
              </a:rPr>
              <a:t>1/f-Charakteristik, tieffrequentbetont</a:t>
            </a:r>
            <a:endParaRPr lang="en-US" sz="1283" dirty="0"/>
          </a:p>
        </p:txBody>
      </p:sp>
      <p:sp>
        <p:nvSpPr>
          <p:cNvPr id="14" name="Text 8"/>
          <p:cNvSpPr/>
          <p:nvPr/>
        </p:nvSpPr>
        <p:spPr>
          <a:xfrm>
            <a:off x="5110163" y="2466975"/>
            <a:ext cx="4081463" cy="576263"/>
          </a:xfrm>
          <a:prstGeom prst="rect">
            <a:avLst/>
          </a:prstGeom>
          <a:noFill/>
          <a:ln/>
        </p:spPr>
        <p:txBody>
          <a:bodyPr wrap="square" lIns="0" tIns="0" rIns="0" bIns="0" rtlCol="0" anchor="t"/>
          <a:lstStyle/>
          <a:p>
            <a:pPr algn="l" indent="0" marL="0">
              <a:lnSpc>
                <a:spcPts val="2138"/>
              </a:lnSpc>
              <a:buNone/>
            </a:pPr>
            <a:r>
              <a:rPr lang="en-US" sz="855" spc="-9" kern="0" dirty="0">
                <a:solidFill>
                  <a:srgbClr val="FBFAFB">
                    <a:alpha val="99000"/>
                  </a:srgbClr>
                </a:solidFill>
                <a:latin typeface="Rethink Sans" pitchFamily="34" charset="0"/>
                <a:ea typeface="Rethink Sans" pitchFamily="34" charset="-122"/>
                <a:cs typeface="Rethink Sans" pitchFamily="34" charset="-120"/>
              </a:rPr>
              <a:t>Ähnelt natürlichen Geräuschen (Verkehr, Klimaanlage). Beeinträchtigt Vokalformanten stärker als Konsonanten.
</a:t>
            </a:r>
            <a:endParaRPr lang="en-US" sz="855" dirty="0"/>
          </a:p>
        </p:txBody>
      </p:sp>
      <p:sp>
        <p:nvSpPr>
          <p:cNvPr id="15" name="Text 9"/>
          <p:cNvSpPr/>
          <p:nvPr/>
        </p:nvSpPr>
        <p:spPr>
          <a:xfrm>
            <a:off x="5081588" y="1881187"/>
            <a:ext cx="3233738" cy="342900"/>
          </a:xfrm>
          <a:prstGeom prst="rect">
            <a:avLst/>
          </a:prstGeom>
          <a:noFill/>
          <a:ln/>
        </p:spPr>
        <p:txBody>
          <a:bodyPr wrap="square" lIns="0" tIns="0" rIns="0" bIns="0" rtlCol="0" anchor="t"/>
          <a:lstStyle/>
          <a:p>
            <a:pPr algn="l" indent="0" marL="0">
              <a:lnSpc>
                <a:spcPts val="2565"/>
              </a:lnSpc>
              <a:buNone/>
            </a:pPr>
            <a:r>
              <a:rPr lang="en-US" sz="1283" spc="-26" kern="0" dirty="0">
                <a:solidFill>
                  <a:srgbClr val="FFFFFF">
                    <a:alpha val="99000"/>
                  </a:srgbClr>
                </a:solidFill>
                <a:latin typeface="Inter" pitchFamily="34" charset="0"/>
                <a:ea typeface="Inter" pitchFamily="34" charset="-122"/>
                <a:cs typeface="Inter" pitchFamily="34" charset="-120"/>
              </a:rPr>
              <a:t>PINK NOISE
</a:t>
            </a:r>
            <a:endParaRPr lang="en-US" sz="1283" dirty="0"/>
          </a:p>
        </p:txBody>
      </p:sp>
      <p:sp>
        <p:nvSpPr>
          <p:cNvPr id="16" name="Shape 10"/>
          <p:cNvSpPr/>
          <p:nvPr/>
        </p:nvSpPr>
        <p:spPr>
          <a:xfrm>
            <a:off x="4629150" y="3371850"/>
            <a:ext cx="4338638" cy="1414463"/>
          </a:xfrm>
          <a:prstGeom prst="roundRect">
            <a:avLst>
              <a:gd name="adj" fmla="val 15515"/>
            </a:avLst>
          </a:prstGeom>
          <a:solidFill>
            <a:srgbClr val="171717"/>
          </a:solidFill>
          <a:ln/>
        </p:spPr>
      </p:sp>
      <p:pic>
        <p:nvPicPr>
          <p:cNvPr id="17" name="Image 3" descr="preencoded.png">    </p:cNvPr>
          <p:cNvPicPr>
            <a:picLocks noChangeAspect="1"/>
          </p:cNvPicPr>
          <p:nvPr/>
        </p:nvPicPr>
        <p:blipFill>
          <a:blip r:embed="rId4"/>
          <a:srcRect l="0" r="0" t="0" b="0"/>
          <a:stretch/>
        </p:blipFill>
        <p:spPr>
          <a:xfrm>
            <a:off x="4776788" y="3457575"/>
            <a:ext cx="266700" cy="266700"/>
          </a:xfrm>
          <a:prstGeom prst="rect">
            <a:avLst/>
          </a:prstGeom>
        </p:spPr>
      </p:pic>
      <p:sp>
        <p:nvSpPr>
          <p:cNvPr id="18" name="Text 11"/>
          <p:cNvSpPr/>
          <p:nvPr/>
        </p:nvSpPr>
        <p:spPr>
          <a:xfrm>
            <a:off x="5138738" y="3652838"/>
            <a:ext cx="3924300" cy="361950"/>
          </a:xfrm>
          <a:prstGeom prst="rect">
            <a:avLst/>
          </a:prstGeom>
          <a:noFill/>
          <a:ln/>
        </p:spPr>
        <p:txBody>
          <a:bodyPr wrap="square" lIns="0" tIns="0" rIns="0" bIns="0" rtlCol="0" anchor="t"/>
          <a:lstStyle/>
          <a:p>
            <a:pPr algn="l" indent="0" marL="0">
              <a:lnSpc>
                <a:spcPts val="3206"/>
              </a:lnSpc>
              <a:buNone/>
            </a:pPr>
            <a:r>
              <a:rPr lang="en-US" sz="1283" spc="-13" kern="0" dirty="0">
                <a:solidFill>
                  <a:srgbClr val="FBFAFB">
                    <a:alpha val="99000"/>
                  </a:srgbClr>
                </a:solidFill>
                <a:latin typeface="Rethink Sans" pitchFamily="34" charset="0"/>
                <a:ea typeface="Rethink Sans" pitchFamily="34" charset="-122"/>
                <a:cs typeface="Rethink Sans" pitchFamily="34" charset="-120"/>
              </a:rPr>
              <a:t>Hochfrequentbetontes Rauschen</a:t>
            </a:r>
            <a:endParaRPr lang="en-US" sz="1283" dirty="0"/>
          </a:p>
        </p:txBody>
      </p:sp>
      <p:sp>
        <p:nvSpPr>
          <p:cNvPr id="19" name="Text 12"/>
          <p:cNvSpPr/>
          <p:nvPr/>
        </p:nvSpPr>
        <p:spPr>
          <a:xfrm>
            <a:off x="5138738" y="4019550"/>
            <a:ext cx="4081463" cy="576263"/>
          </a:xfrm>
          <a:prstGeom prst="rect">
            <a:avLst/>
          </a:prstGeom>
          <a:noFill/>
          <a:ln/>
        </p:spPr>
        <p:txBody>
          <a:bodyPr wrap="square" lIns="0" tIns="0" rIns="0" bIns="0" rtlCol="0" anchor="t"/>
          <a:lstStyle/>
          <a:p>
            <a:pPr algn="l" indent="0" marL="0">
              <a:lnSpc>
                <a:spcPts val="2138"/>
              </a:lnSpc>
              <a:buNone/>
            </a:pPr>
            <a:r>
              <a:rPr lang="en-US" sz="855" spc="-9" kern="0" dirty="0">
                <a:solidFill>
                  <a:srgbClr val="FBFAFB">
                    <a:alpha val="99000"/>
                  </a:srgbClr>
                </a:solidFill>
                <a:latin typeface="Rethink Sans" pitchFamily="34" charset="0"/>
                <a:ea typeface="Rethink Sans" pitchFamily="34" charset="-122"/>
                <a:cs typeface="Rethink Sans" pitchFamily="34" charset="-120"/>
              </a:rPr>
              <a:t>Stört Zischlaute und Sibilanten, lässt tiefe Vokalformanten intact. </a:t>
            </a:r>
            <a:endParaRPr lang="en-US" sz="855" dirty="0"/>
          </a:p>
          <a:p>
            <a:pPr algn="l" indent="0" marL="0">
              <a:lnSpc>
                <a:spcPts val="2138"/>
              </a:lnSpc>
              <a:buNone/>
            </a:pPr>
            <a:r>
              <a:rPr lang="en-US" sz="855" spc="-9" kern="0" dirty="0">
                <a:solidFill>
                  <a:srgbClr val="FBFAFB">
                    <a:alpha val="99000"/>
                  </a:srgbClr>
                </a:solidFill>
                <a:latin typeface="Rethink Sans" pitchFamily="34" charset="0"/>
                <a:ea typeface="Rethink Sans" pitchFamily="34" charset="-122"/>
                <a:cs typeface="Rethink Sans" pitchFamily="34" charset="-120"/>
              </a:rPr>
              <a:t>Für Whisper am wenigsten schädlich.
</a:t>
            </a:r>
            <a:endParaRPr lang="en-US" sz="855" dirty="0"/>
          </a:p>
        </p:txBody>
      </p:sp>
      <p:pic>
        <p:nvPicPr>
          <p:cNvPr id="20" name="Image 4" descr="preencoded.png">    </p:cNvPr>
          <p:cNvPicPr>
            <a:picLocks noChangeAspect="1"/>
          </p:cNvPicPr>
          <p:nvPr/>
        </p:nvPicPr>
        <p:blipFill>
          <a:blip r:embed="rId5"/>
          <a:srcRect l="0" r="0" t="0" b="0"/>
          <a:stretch/>
        </p:blipFill>
        <p:spPr>
          <a:xfrm>
            <a:off x="4776788" y="3457575"/>
            <a:ext cx="266700" cy="266700"/>
          </a:xfrm>
          <a:prstGeom prst="rect">
            <a:avLst/>
          </a:prstGeom>
        </p:spPr>
      </p:pic>
      <p:pic>
        <p:nvPicPr>
          <p:cNvPr id="21" name="Image 5" descr="preencoded.png">    </p:cNvPr>
          <p:cNvPicPr>
            <a:picLocks noChangeAspect="1"/>
          </p:cNvPicPr>
          <p:nvPr/>
        </p:nvPicPr>
        <p:blipFill>
          <a:blip r:embed="rId6"/>
          <a:srcRect l="0" r="0" t="0" b="0"/>
          <a:stretch/>
        </p:blipFill>
        <p:spPr>
          <a:xfrm>
            <a:off x="4776788" y="3457575"/>
            <a:ext cx="266700" cy="266700"/>
          </a:xfrm>
          <a:prstGeom prst="rect">
            <a:avLst/>
          </a:prstGeom>
        </p:spPr>
      </p:pic>
      <p:sp>
        <p:nvSpPr>
          <p:cNvPr id="22" name="Text 13"/>
          <p:cNvSpPr/>
          <p:nvPr/>
        </p:nvSpPr>
        <p:spPr>
          <a:xfrm>
            <a:off x="5110163" y="3433763"/>
            <a:ext cx="3233738" cy="342900"/>
          </a:xfrm>
          <a:prstGeom prst="rect">
            <a:avLst/>
          </a:prstGeom>
          <a:noFill/>
          <a:ln/>
        </p:spPr>
        <p:txBody>
          <a:bodyPr wrap="square" lIns="0" tIns="0" rIns="0" bIns="0" rtlCol="0" anchor="t"/>
          <a:lstStyle/>
          <a:p>
            <a:pPr algn="l" indent="0" marL="0">
              <a:lnSpc>
                <a:spcPts val="2565"/>
              </a:lnSpc>
              <a:buNone/>
            </a:pPr>
            <a:r>
              <a:rPr lang="en-US" sz="1283" spc="-26" kern="0" dirty="0">
                <a:solidFill>
                  <a:srgbClr val="FFFFFF">
                    <a:alpha val="99000"/>
                  </a:srgbClr>
                </a:solidFill>
                <a:latin typeface="Inter" pitchFamily="34" charset="0"/>
                <a:ea typeface="Inter" pitchFamily="34" charset="-122"/>
                <a:cs typeface="Inter" pitchFamily="34" charset="-120"/>
              </a:rPr>
              <a:t>BLUE NOISE
</a:t>
            </a:r>
            <a:endParaRPr lang="en-US" sz="1283" dirty="0"/>
          </a:p>
        </p:txBody>
      </p:sp>
      <p:pic>
        <p:nvPicPr>
          <p:cNvPr id="23" name="Image 6" descr="preencoded.png">    </p:cNvPr>
          <p:cNvPicPr>
            <a:picLocks noChangeAspect="1"/>
          </p:cNvPicPr>
          <p:nvPr/>
        </p:nvPicPr>
        <p:blipFill>
          <a:blip r:embed="rId7"/>
          <a:srcRect l="0" r="0" t="0" b="0"/>
          <a:stretch/>
        </p:blipFill>
        <p:spPr>
          <a:xfrm>
            <a:off x="4719638" y="1957388"/>
            <a:ext cx="266700" cy="266700"/>
          </a:xfrm>
          <a:prstGeom prst="rect">
            <a:avLst/>
          </a:prstGeom>
        </p:spPr>
      </p:pic>
      <p:sp>
        <p:nvSpPr>
          <p:cNvPr id="24" name="Text 14"/>
          <p:cNvSpPr/>
          <p:nvPr/>
        </p:nvSpPr>
        <p:spPr>
          <a:xfrm>
            <a:off x="381000" y="4710113"/>
            <a:ext cx="4495800" cy="133350"/>
          </a:xfrm>
          <a:prstGeom prst="rect">
            <a:avLst/>
          </a:prstGeom>
          <a:noFill/>
          <a:ln/>
        </p:spPr>
        <p:txBody>
          <a:bodyPr wrap="square" lIns="0" tIns="0" rIns="0" bIns="0" rtlCol="0" anchor="t"/>
          <a:lstStyle/>
          <a:p>
            <a:pPr algn="l" indent="0" marL="0">
              <a:lnSpc>
                <a:spcPts val="998"/>
              </a:lnSpc>
              <a:buNone/>
            </a:pPr>
            <a:r>
              <a:rPr lang="en-US" sz="713" dirty="0">
                <a:solidFill>
                  <a:srgbClr val="606063">
                    <a:alpha val="99000"/>
                  </a:srgbClr>
                </a:solidFill>
                <a:latin typeface="Rethink Sans" pitchFamily="34" charset="0"/>
                <a:ea typeface="Rethink Sans" pitchFamily="34" charset="-122"/>
                <a:cs typeface="Rethink Sans" pitchFamily="34" charset="-120"/>
              </a:rPr>
              <a:t>113457a Speech Interaction | Lars Gerigk (lg107) | Nils Fink (nf056)</a:t>
            </a:r>
            <a:endParaRPr lang="en-US" sz="713"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rcRect l="0" r="0" t="0" b="0"/>
          <a:stretch/>
        </p:blipFill>
        <p:spPr>
          <a:xfrm>
            <a:off x="161925" y="85725"/>
            <a:ext cx="8915400" cy="4967288"/>
          </a:xfrm>
          <a:prstGeom prst="rect">
            <a:avLst/>
          </a:prstGeom>
        </p:spPr>
      </p:pic>
      <p:sp>
        <p:nvSpPr>
          <p:cNvPr id="4" name="Text 0"/>
          <p:cNvSpPr/>
          <p:nvPr/>
        </p:nvSpPr>
        <p:spPr>
          <a:xfrm>
            <a:off x="2309813" y="2326272"/>
            <a:ext cx="615498" cy="615498"/>
          </a:xfrm>
          <a:prstGeom prst="ellipse">
            <a:avLst/>
          </a:prstGeom>
          <a:solidFill>
            <a:srgbClr val="000000"/>
          </a:solidFill>
          <a:ln/>
        </p:spPr>
        <p:txBody>
          <a:bodyPr wrap="square" rtlCol="0" anchor="ctr"/>
          <a:lstStyle/>
          <a:p>
            <a:pPr indent="0" marL="0">
              <a:buNone/>
            </a:pPr>
            <a:endParaRPr lang="en-US" dirty="0"/>
          </a:p>
        </p:txBody>
      </p:sp>
      <p:sp>
        <p:nvSpPr>
          <p:cNvPr id="5" name="Text 1"/>
          <p:cNvSpPr/>
          <p:nvPr/>
        </p:nvSpPr>
        <p:spPr>
          <a:xfrm>
            <a:off x="4152812" y="2326272"/>
            <a:ext cx="615498" cy="615498"/>
          </a:xfrm>
          <a:prstGeom prst="ellipse">
            <a:avLst/>
          </a:prstGeom>
          <a:solidFill>
            <a:srgbClr val="000000"/>
          </a:solidFill>
          <a:ln/>
        </p:spPr>
        <p:txBody>
          <a:bodyPr wrap="square" rtlCol="0" anchor="ctr"/>
          <a:lstStyle/>
          <a:p>
            <a:pPr indent="0" marL="0">
              <a:buNone/>
            </a:pPr>
            <a:endParaRPr lang="en-US" dirty="0"/>
          </a:p>
        </p:txBody>
      </p:sp>
      <p:sp>
        <p:nvSpPr>
          <p:cNvPr id="6" name="Text 2"/>
          <p:cNvSpPr/>
          <p:nvPr/>
        </p:nvSpPr>
        <p:spPr>
          <a:xfrm>
            <a:off x="5862638" y="2324100"/>
            <a:ext cx="615498" cy="615498"/>
          </a:xfrm>
          <a:prstGeom prst="ellipse">
            <a:avLst/>
          </a:prstGeom>
          <a:solidFill>
            <a:srgbClr val="00DC82"/>
          </a:solidFill>
          <a:ln/>
        </p:spPr>
        <p:txBody>
          <a:bodyPr wrap="square" rtlCol="0" anchor="ctr"/>
          <a:lstStyle/>
          <a:p>
            <a:pPr indent="0" marL="0">
              <a:buNone/>
            </a:pPr>
            <a:endParaRPr lang="en-US" dirty="0"/>
          </a:p>
        </p:txBody>
      </p:sp>
      <p:pic>
        <p:nvPicPr>
          <p:cNvPr id="7" name="Image 1" descr="preencoded.png">    </p:cNvPr>
          <p:cNvPicPr>
            <a:picLocks noChangeAspect="1"/>
          </p:cNvPicPr>
          <p:nvPr/>
        </p:nvPicPr>
        <p:blipFill>
          <a:blip r:embed="rId2"/>
          <a:srcRect l="0" r="0" t="0" b="0"/>
          <a:stretch/>
        </p:blipFill>
        <p:spPr>
          <a:xfrm>
            <a:off x="5929489" y="2388603"/>
            <a:ext cx="481012" cy="481012"/>
          </a:xfrm>
          <a:prstGeom prst="rect">
            <a:avLst/>
          </a:prstGeom>
        </p:spPr>
      </p:pic>
      <p:pic>
        <p:nvPicPr>
          <p:cNvPr id="8" name="Image 2" descr="preencoded.png">    </p:cNvPr>
          <p:cNvPicPr>
            <a:picLocks noChangeAspect="1"/>
          </p:cNvPicPr>
          <p:nvPr/>
        </p:nvPicPr>
        <p:blipFill>
          <a:blip r:embed="rId3"/>
          <a:srcRect l="0" r="0" t="0" b="0"/>
          <a:stretch/>
        </p:blipFill>
        <p:spPr>
          <a:xfrm>
            <a:off x="4292696" y="2466159"/>
            <a:ext cx="335726" cy="335726"/>
          </a:xfrm>
          <a:prstGeom prst="rect">
            <a:avLst/>
          </a:prstGeom>
        </p:spPr>
      </p:pic>
      <p:pic>
        <p:nvPicPr>
          <p:cNvPr id="9" name="Image 3" descr="preencoded.png">    </p:cNvPr>
          <p:cNvPicPr>
            <a:picLocks noChangeAspect="1"/>
          </p:cNvPicPr>
          <p:nvPr/>
        </p:nvPicPr>
        <p:blipFill>
          <a:blip r:embed="rId4"/>
          <a:srcRect l="0" r="0" t="0" b="0"/>
          <a:stretch/>
        </p:blipFill>
        <p:spPr>
          <a:xfrm>
            <a:off x="3404420" y="1651322"/>
            <a:ext cx="335726" cy="276275"/>
          </a:xfrm>
          <a:prstGeom prst="rect">
            <a:avLst/>
          </a:prstGeom>
        </p:spPr>
      </p:pic>
      <p:pic>
        <p:nvPicPr>
          <p:cNvPr id="10" name="Image 4" descr="preencoded.png">    </p:cNvPr>
          <p:cNvPicPr>
            <a:picLocks noChangeAspect="1"/>
          </p:cNvPicPr>
          <p:nvPr/>
        </p:nvPicPr>
        <p:blipFill>
          <a:blip r:embed="rId5"/>
          <a:srcRect l="0" r="0" t="0" b="0"/>
          <a:stretch/>
        </p:blipFill>
        <p:spPr>
          <a:xfrm>
            <a:off x="5292882" y="1647825"/>
            <a:ext cx="335726" cy="276275"/>
          </a:xfrm>
          <a:prstGeom prst="rect">
            <a:avLst/>
          </a:prstGeom>
        </p:spPr>
      </p:pic>
      <p:pic>
        <p:nvPicPr>
          <p:cNvPr id="11" name="Image 5" descr="preencoded.png">    </p:cNvPr>
          <p:cNvPicPr>
            <a:picLocks noChangeAspect="1"/>
          </p:cNvPicPr>
          <p:nvPr/>
        </p:nvPicPr>
        <p:blipFill>
          <a:blip r:embed="rId6"/>
          <a:srcRect l="0" r="0" t="0" b="0"/>
          <a:stretch/>
        </p:blipFill>
        <p:spPr>
          <a:xfrm>
            <a:off x="3284251" y="1651322"/>
            <a:ext cx="335726" cy="276275"/>
          </a:xfrm>
          <a:prstGeom prst="rect">
            <a:avLst/>
          </a:prstGeom>
        </p:spPr>
      </p:pic>
      <p:pic>
        <p:nvPicPr>
          <p:cNvPr id="12" name="Image 6" descr="preencoded.png">    </p:cNvPr>
          <p:cNvPicPr>
            <a:picLocks noChangeAspect="1"/>
          </p:cNvPicPr>
          <p:nvPr/>
        </p:nvPicPr>
        <p:blipFill>
          <a:blip r:embed="rId7"/>
          <a:srcRect l="0" r="0" t="0" b="0"/>
          <a:stretch/>
        </p:blipFill>
        <p:spPr>
          <a:xfrm>
            <a:off x="5177475" y="1651322"/>
            <a:ext cx="335726" cy="276275"/>
          </a:xfrm>
          <a:prstGeom prst="rect">
            <a:avLst/>
          </a:prstGeom>
        </p:spPr>
      </p:pic>
      <p:pic>
        <p:nvPicPr>
          <p:cNvPr id="13" name="Image 7" descr="preencoded.png">    </p:cNvPr>
          <p:cNvPicPr>
            <a:picLocks noChangeAspect="1"/>
          </p:cNvPicPr>
          <p:nvPr/>
        </p:nvPicPr>
        <p:blipFill>
          <a:blip r:embed="rId8"/>
          <a:srcRect l="0" r="0" t="0" b="0"/>
          <a:stretch/>
        </p:blipFill>
        <p:spPr>
          <a:xfrm>
            <a:off x="3284251" y="1703780"/>
            <a:ext cx="125899" cy="193654"/>
          </a:xfrm>
          <a:prstGeom prst="rect">
            <a:avLst/>
          </a:prstGeom>
        </p:spPr>
      </p:pic>
      <p:pic>
        <p:nvPicPr>
          <p:cNvPr id="14" name="Image 8" descr="preencoded.png">    </p:cNvPr>
          <p:cNvPicPr>
            <a:picLocks noChangeAspect="1"/>
          </p:cNvPicPr>
          <p:nvPr/>
        </p:nvPicPr>
        <p:blipFill>
          <a:blip r:embed="rId9"/>
          <a:srcRect l="0" r="0" t="0" b="0"/>
          <a:stretch/>
        </p:blipFill>
        <p:spPr>
          <a:xfrm>
            <a:off x="1670870" y="1651322"/>
            <a:ext cx="335726" cy="276275"/>
          </a:xfrm>
          <a:prstGeom prst="rect">
            <a:avLst/>
          </a:prstGeom>
        </p:spPr>
      </p:pic>
      <p:pic>
        <p:nvPicPr>
          <p:cNvPr id="15" name="Image 9" descr="preencoded.png">    </p:cNvPr>
          <p:cNvPicPr>
            <a:picLocks noChangeAspect="1"/>
          </p:cNvPicPr>
          <p:nvPr/>
        </p:nvPicPr>
        <p:blipFill>
          <a:blip r:embed="rId10"/>
          <a:srcRect l="0" r="0" t="0" b="0"/>
          <a:stretch/>
        </p:blipFill>
        <p:spPr>
          <a:xfrm>
            <a:off x="1550701" y="1651322"/>
            <a:ext cx="335726" cy="276275"/>
          </a:xfrm>
          <a:prstGeom prst="rect">
            <a:avLst/>
          </a:prstGeom>
        </p:spPr>
      </p:pic>
      <p:pic>
        <p:nvPicPr>
          <p:cNvPr id="16" name="Image 10" descr="preencoded.png">    </p:cNvPr>
          <p:cNvPicPr>
            <a:picLocks noChangeAspect="1"/>
          </p:cNvPicPr>
          <p:nvPr/>
        </p:nvPicPr>
        <p:blipFill>
          <a:blip r:embed="rId11"/>
          <a:srcRect l="0" r="0" t="0" b="0"/>
          <a:stretch/>
        </p:blipFill>
        <p:spPr>
          <a:xfrm>
            <a:off x="1550701" y="1703780"/>
            <a:ext cx="125899" cy="193654"/>
          </a:xfrm>
          <a:prstGeom prst="rect">
            <a:avLst/>
          </a:prstGeom>
        </p:spPr>
      </p:pic>
      <p:pic>
        <p:nvPicPr>
          <p:cNvPr id="17" name="Image 11" descr="preencoded.png">    </p:cNvPr>
          <p:cNvPicPr>
            <a:picLocks noChangeAspect="1"/>
          </p:cNvPicPr>
          <p:nvPr/>
        </p:nvPicPr>
        <p:blipFill>
          <a:blip r:embed="rId12"/>
          <a:srcRect l="0" r="0" t="0" b="0"/>
          <a:stretch/>
        </p:blipFill>
        <p:spPr>
          <a:xfrm>
            <a:off x="5177475" y="1700282"/>
            <a:ext cx="125899" cy="193654"/>
          </a:xfrm>
          <a:prstGeom prst="rect">
            <a:avLst/>
          </a:prstGeom>
        </p:spPr>
      </p:pic>
      <p:pic>
        <p:nvPicPr>
          <p:cNvPr id="18" name="Image 12" descr="preencoded.png">    </p:cNvPr>
          <p:cNvPicPr>
            <a:picLocks noChangeAspect="1"/>
          </p:cNvPicPr>
          <p:nvPr/>
        </p:nvPicPr>
        <p:blipFill>
          <a:blip r:embed="rId13"/>
          <a:srcRect l="0" r="0" t="0" b="0"/>
          <a:stretch/>
        </p:blipFill>
        <p:spPr>
          <a:xfrm>
            <a:off x="7006744" y="1619250"/>
            <a:ext cx="335728" cy="276275"/>
          </a:xfrm>
          <a:prstGeom prst="rect">
            <a:avLst/>
          </a:prstGeom>
        </p:spPr>
      </p:pic>
      <p:pic>
        <p:nvPicPr>
          <p:cNvPr id="19" name="Image 13" descr="preencoded.png">    </p:cNvPr>
          <p:cNvPicPr>
            <a:picLocks noChangeAspect="1"/>
          </p:cNvPicPr>
          <p:nvPr/>
        </p:nvPicPr>
        <p:blipFill>
          <a:blip r:embed="rId14"/>
          <a:srcRect l="0" r="0" t="0" b="0"/>
          <a:stretch/>
        </p:blipFill>
        <p:spPr>
          <a:xfrm>
            <a:off x="6891338" y="1622747"/>
            <a:ext cx="335728" cy="276275"/>
          </a:xfrm>
          <a:prstGeom prst="rect">
            <a:avLst/>
          </a:prstGeom>
        </p:spPr>
      </p:pic>
      <p:pic>
        <p:nvPicPr>
          <p:cNvPr id="20" name="Image 14" descr="preencoded.png">    </p:cNvPr>
          <p:cNvPicPr>
            <a:picLocks noChangeAspect="1"/>
          </p:cNvPicPr>
          <p:nvPr/>
        </p:nvPicPr>
        <p:blipFill>
          <a:blip r:embed="rId15"/>
          <a:srcRect l="0" r="0" t="0" b="0"/>
          <a:stretch/>
        </p:blipFill>
        <p:spPr>
          <a:xfrm>
            <a:off x="6891338" y="1671707"/>
            <a:ext cx="125899" cy="193654"/>
          </a:xfrm>
          <a:prstGeom prst="rect">
            <a:avLst/>
          </a:prstGeom>
        </p:spPr>
      </p:pic>
      <p:sp>
        <p:nvSpPr>
          <p:cNvPr id="21" name="Text 3"/>
          <p:cNvSpPr/>
          <p:nvPr/>
        </p:nvSpPr>
        <p:spPr>
          <a:xfrm>
            <a:off x="7643813" y="2319338"/>
            <a:ext cx="615498" cy="615498"/>
          </a:xfrm>
          <a:prstGeom prst="ellipse">
            <a:avLst/>
          </a:prstGeom>
          <a:solidFill>
            <a:srgbClr val="000000"/>
          </a:solidFill>
          <a:ln/>
        </p:spPr>
        <p:txBody>
          <a:bodyPr wrap="square" rtlCol="0" anchor="ctr"/>
          <a:lstStyle/>
          <a:p>
            <a:pPr indent="0" marL="0">
              <a:buNone/>
            </a:pPr>
            <a:endParaRPr lang="en-US" dirty="0"/>
          </a:p>
        </p:txBody>
      </p:sp>
      <p:pic>
        <p:nvPicPr>
          <p:cNvPr id="22" name="Image 15" descr="preencoded.png">    </p:cNvPr>
          <p:cNvPicPr>
            <a:picLocks noChangeAspect="1"/>
          </p:cNvPicPr>
          <p:nvPr/>
        </p:nvPicPr>
        <p:blipFill>
          <a:blip r:embed="rId16"/>
          <a:srcRect l="0" r="0" t="0" b="0"/>
          <a:stretch/>
        </p:blipFill>
        <p:spPr>
          <a:xfrm>
            <a:off x="7786688" y="2466975"/>
            <a:ext cx="335728" cy="335726"/>
          </a:xfrm>
          <a:prstGeom prst="rect">
            <a:avLst/>
          </a:prstGeom>
        </p:spPr>
      </p:pic>
      <p:sp>
        <p:nvSpPr>
          <p:cNvPr id="23" name="Shape 4"/>
          <p:cNvSpPr/>
          <p:nvPr/>
        </p:nvSpPr>
        <p:spPr>
          <a:xfrm>
            <a:off x="7239000" y="1571625"/>
            <a:ext cx="1332414" cy="336942"/>
          </a:xfrm>
          <a:prstGeom prst="rect">
            <a:avLst/>
          </a:prstGeom>
          <a:noFill/>
          <a:ln/>
        </p:spPr>
      </p:sp>
      <p:sp>
        <p:nvSpPr>
          <p:cNvPr id="24" name="Text 5"/>
          <p:cNvSpPr/>
          <p:nvPr/>
        </p:nvSpPr>
        <p:spPr>
          <a:xfrm>
            <a:off x="7239000" y="1571625"/>
            <a:ext cx="1332414" cy="166688"/>
          </a:xfrm>
          <a:prstGeom prst="rect">
            <a:avLst/>
          </a:prstGeom>
          <a:noFill/>
          <a:ln/>
        </p:spPr>
        <p:txBody>
          <a:bodyPr wrap="square" lIns="0" tIns="0" rIns="0" bIns="0" rtlCol="0" anchor="t"/>
          <a:lstStyle/>
          <a:p>
            <a:pPr algn="ctr" indent="0" marL="0">
              <a:lnSpc>
                <a:spcPts val="1243"/>
              </a:lnSpc>
              <a:buNone/>
            </a:pPr>
            <a:r>
              <a:rPr lang="en-US" sz="942" b="1" spc="-19" kern="0" dirty="0">
                <a:solidFill>
                  <a:srgbClr val="FFFFFF">
                    <a:alpha val="99000"/>
                  </a:srgbClr>
                </a:solidFill>
                <a:latin typeface="Inter" pitchFamily="34" charset="0"/>
                <a:ea typeface="Inter" pitchFamily="34" charset="-122"/>
                <a:cs typeface="Inter" pitchFamily="34" charset="-120"/>
              </a:rPr>
              <a:t>Analyse</a:t>
            </a:r>
            <a:endParaRPr lang="en-US" sz="942" dirty="0"/>
          </a:p>
        </p:txBody>
      </p:sp>
      <p:sp>
        <p:nvSpPr>
          <p:cNvPr id="25" name="Text 6"/>
          <p:cNvSpPr/>
          <p:nvPr/>
        </p:nvSpPr>
        <p:spPr>
          <a:xfrm>
            <a:off x="7239000" y="1794267"/>
            <a:ext cx="1332414" cy="114300"/>
          </a:xfrm>
          <a:prstGeom prst="rect">
            <a:avLst/>
          </a:prstGeom>
          <a:noFill/>
          <a:ln/>
        </p:spPr>
        <p:txBody>
          <a:bodyPr wrap="square" lIns="0" tIns="0" rIns="0" bIns="0" rtlCol="0" anchor="t"/>
          <a:lstStyle/>
          <a:p>
            <a:pPr algn="ctr" indent="0" marL="0">
              <a:lnSpc>
                <a:spcPts val="841"/>
              </a:lnSpc>
              <a:buNone/>
            </a:pPr>
            <a:r>
              <a:rPr lang="en-US" sz="628" spc="-3" kern="0" dirty="0">
                <a:solidFill>
                  <a:srgbClr val="FFFFFF">
                    <a:alpha val="99000"/>
                  </a:srgbClr>
                </a:solidFill>
                <a:latin typeface="Inter" pitchFamily="34" charset="0"/>
                <a:ea typeface="Inter" pitchFamily="34" charset="-122"/>
                <a:cs typeface="Inter" pitchFamily="34" charset="-120"/>
              </a:rPr>
              <a:t>metrics</a:t>
            </a:r>
            <a:endParaRPr lang="en-US" sz="628" dirty="0"/>
          </a:p>
        </p:txBody>
      </p:sp>
      <p:sp>
        <p:nvSpPr>
          <p:cNvPr id="26" name="Text 7"/>
          <p:cNvSpPr/>
          <p:nvPr/>
        </p:nvSpPr>
        <p:spPr>
          <a:xfrm>
            <a:off x="7343775" y="3138488"/>
            <a:ext cx="1647825" cy="666750"/>
          </a:xfrm>
          <a:prstGeom prst="rect">
            <a:avLst/>
          </a:prstGeom>
          <a:noFill/>
          <a:ln/>
        </p:spPr>
        <p:txBody>
          <a:bodyPr wrap="square" lIns="0" tIns="0" rIns="0" bIns="0" rtlCol="0" anchor="t"/>
          <a:lstStyle/>
          <a:p>
            <a:pPr algn="l" marL="342900" indent="-342900">
              <a:lnSpc>
                <a:spcPts val="1243"/>
              </a:lnSpc>
              <a:buSzPct val="100000"/>
              <a:buChar char="•"/>
            </a:pPr>
            <a:r>
              <a:rPr lang="en-US" sz="942" b="1" spc="-19" kern="0" dirty="0">
                <a:solidFill>
                  <a:srgbClr val="FFFFFF">
                    <a:alpha val="99000"/>
                  </a:srgbClr>
                </a:solidFill>
                <a:latin typeface="Inter" pitchFamily="34" charset="0"/>
                <a:ea typeface="Inter" pitchFamily="34" charset="-122"/>
                <a:cs typeface="Inter" pitchFamily="34" charset="-120"/>
              </a:rPr>
              <a:t>Referenz vs. Transkript
 Fehlerrate berechnen</a:t>
            </a:r>
            <a:endParaRPr lang="en-US" sz="942" dirty="0"/>
          </a:p>
          <a:p>
            <a:pPr algn="l" marL="342900" indent="-342900">
              <a:lnSpc>
                <a:spcPts val="1243"/>
              </a:lnSpc>
              <a:buSzPct val="100000"/>
              <a:buChar char="•"/>
            </a:pPr>
            <a:r>
              <a:rPr lang="en-US" sz="942" b="1" spc="-19" kern="0" dirty="0">
                <a:solidFill>
                  <a:srgbClr val="FFFFFF">
                    <a:alpha val="99000"/>
                  </a:srgbClr>
                </a:solidFill>
                <a:latin typeface="Inter" pitchFamily="34" charset="0"/>
                <a:ea typeface="Inter" pitchFamily="34" charset="-122"/>
                <a:cs typeface="Inter" pitchFamily="34" charset="-120"/>
              </a:rPr>
              <a:t>WER</a:t>
            </a:r>
            <a:endParaRPr lang="en-US" sz="942" dirty="0"/>
          </a:p>
          <a:p>
            <a:pPr algn="l" marL="342900" indent="-342900">
              <a:lnSpc>
                <a:spcPts val="1243"/>
              </a:lnSpc>
              <a:buSzPct val="100000"/>
              <a:buChar char="•"/>
            </a:pPr>
            <a:r>
              <a:rPr lang="en-US" sz="942" b="1" spc="-19" kern="0" dirty="0">
                <a:solidFill>
                  <a:srgbClr val="FFFFFF">
                    <a:alpha val="99000"/>
                  </a:srgbClr>
                </a:solidFill>
                <a:latin typeface="Inter" pitchFamily="34" charset="0"/>
                <a:ea typeface="Inter" pitchFamily="34" charset="-122"/>
                <a:cs typeface="Inter" pitchFamily="34" charset="-120"/>
              </a:rPr>
              <a:t>CER
</a:t>
            </a:r>
            <a:endParaRPr lang="en-US" sz="942" dirty="0"/>
          </a:p>
        </p:txBody>
      </p:sp>
      <p:pic>
        <p:nvPicPr>
          <p:cNvPr id="27" name="Image 16" descr="preencoded.png">    </p:cNvPr>
          <p:cNvPicPr>
            <a:picLocks noChangeAspect="1"/>
          </p:cNvPicPr>
          <p:nvPr/>
        </p:nvPicPr>
        <p:blipFill>
          <a:blip r:embed="rId17"/>
          <a:srcRect l="0" r="0" t="0" b="0"/>
          <a:stretch/>
        </p:blipFill>
        <p:spPr>
          <a:xfrm>
            <a:off x="2428875" y="2438400"/>
            <a:ext cx="376238" cy="376238"/>
          </a:xfrm>
          <a:prstGeom prst="rect">
            <a:avLst/>
          </a:prstGeom>
        </p:spPr>
      </p:pic>
      <p:sp>
        <p:nvSpPr>
          <p:cNvPr id="28" name="Text 8"/>
          <p:cNvSpPr/>
          <p:nvPr/>
        </p:nvSpPr>
        <p:spPr>
          <a:xfrm>
            <a:off x="495300" y="461963"/>
            <a:ext cx="4886325" cy="547688"/>
          </a:xfrm>
          <a:prstGeom prst="rect">
            <a:avLst/>
          </a:prstGeom>
          <a:noFill/>
          <a:ln/>
        </p:spPr>
        <p:txBody>
          <a:bodyPr wrap="square" lIns="0" tIns="0" rIns="0" bIns="0" rtlCol="0" anchor="ctr"/>
          <a:lstStyle/>
          <a:p>
            <a:pPr algn="l" indent="0" marL="0">
              <a:lnSpc>
                <a:spcPts val="4104"/>
              </a:lnSpc>
              <a:buNone/>
            </a:pPr>
            <a:r>
              <a:rPr lang="en-US" sz="3420" b="1" spc="-75" kern="0" dirty="0">
                <a:solidFill>
                  <a:srgbClr val="FFFFFF">
                    <a:alpha val="99000"/>
                  </a:srgbClr>
                </a:solidFill>
                <a:latin typeface="Rethink Sans" pitchFamily="34" charset="0"/>
                <a:ea typeface="Rethink Sans" pitchFamily="34" charset="-122"/>
                <a:cs typeface="Rethink Sans" pitchFamily="34" charset="-120"/>
              </a:rPr>
              <a:t>Pipeline</a:t>
            </a:r>
            <a:endParaRPr lang="en-US" sz="3420" dirty="0"/>
          </a:p>
        </p:txBody>
      </p:sp>
      <p:sp>
        <p:nvSpPr>
          <p:cNvPr id="29" name="Shape 9"/>
          <p:cNvSpPr/>
          <p:nvPr/>
        </p:nvSpPr>
        <p:spPr>
          <a:xfrm>
            <a:off x="2024062" y="1571625"/>
            <a:ext cx="1126082" cy="336942"/>
          </a:xfrm>
          <a:prstGeom prst="rect">
            <a:avLst/>
          </a:prstGeom>
          <a:noFill/>
          <a:ln/>
        </p:spPr>
      </p:sp>
      <p:sp>
        <p:nvSpPr>
          <p:cNvPr id="30" name="Text 10"/>
          <p:cNvSpPr/>
          <p:nvPr/>
        </p:nvSpPr>
        <p:spPr>
          <a:xfrm>
            <a:off x="2024062" y="1571625"/>
            <a:ext cx="1126082" cy="166688"/>
          </a:xfrm>
          <a:prstGeom prst="rect">
            <a:avLst/>
          </a:prstGeom>
          <a:noFill/>
          <a:ln/>
        </p:spPr>
        <p:txBody>
          <a:bodyPr wrap="square" lIns="0" tIns="0" rIns="0" bIns="0" rtlCol="0" anchor="t"/>
          <a:lstStyle/>
          <a:p>
            <a:pPr algn="ctr" indent="0" marL="0">
              <a:lnSpc>
                <a:spcPts val="1243"/>
              </a:lnSpc>
              <a:buNone/>
            </a:pPr>
            <a:r>
              <a:rPr lang="en-US" sz="942" b="1" spc="-19" kern="0" dirty="0">
                <a:solidFill>
                  <a:srgbClr val="FFFFFF">
                    <a:alpha val="99000"/>
                  </a:srgbClr>
                </a:solidFill>
                <a:latin typeface="Inter" pitchFamily="34" charset="0"/>
                <a:ea typeface="Inter" pitchFamily="34" charset="-122"/>
                <a:cs typeface="Inter" pitchFamily="34" charset="-120"/>
              </a:rPr>
              <a:t>Piper TTS</a:t>
            </a:r>
            <a:endParaRPr lang="en-US" sz="942" dirty="0"/>
          </a:p>
        </p:txBody>
      </p:sp>
      <p:sp>
        <p:nvSpPr>
          <p:cNvPr id="31" name="Text 11"/>
          <p:cNvSpPr/>
          <p:nvPr/>
        </p:nvSpPr>
        <p:spPr>
          <a:xfrm>
            <a:off x="2024062" y="1794267"/>
            <a:ext cx="1126082" cy="114300"/>
          </a:xfrm>
          <a:prstGeom prst="rect">
            <a:avLst/>
          </a:prstGeom>
          <a:noFill/>
          <a:ln/>
        </p:spPr>
        <p:txBody>
          <a:bodyPr wrap="square" lIns="0" tIns="0" rIns="0" bIns="0" rtlCol="0" anchor="t"/>
          <a:lstStyle/>
          <a:p>
            <a:pPr algn="ctr" indent="0" marL="0">
              <a:lnSpc>
                <a:spcPts val="841"/>
              </a:lnSpc>
              <a:buNone/>
            </a:pPr>
            <a:r>
              <a:rPr lang="en-US" sz="628" spc="-3" kern="0" dirty="0">
                <a:solidFill>
                  <a:srgbClr val="FFFFFF">
                    <a:alpha val="99000"/>
                  </a:srgbClr>
                </a:solidFill>
                <a:latin typeface="Inter" pitchFamily="34" charset="0"/>
                <a:ea typeface="Inter" pitchFamily="34" charset="-122"/>
                <a:cs typeface="Inter" pitchFamily="34" charset="-120"/>
              </a:rPr>
              <a:t>clean WAV</a:t>
            </a:r>
            <a:endParaRPr lang="en-US" sz="628" dirty="0"/>
          </a:p>
        </p:txBody>
      </p:sp>
      <p:sp>
        <p:nvSpPr>
          <p:cNvPr id="32" name="Text 12"/>
          <p:cNvSpPr/>
          <p:nvPr/>
        </p:nvSpPr>
        <p:spPr>
          <a:xfrm>
            <a:off x="2024062" y="3138488"/>
            <a:ext cx="1185863" cy="762000"/>
          </a:xfrm>
          <a:prstGeom prst="rect">
            <a:avLst/>
          </a:prstGeom>
          <a:noFill/>
          <a:ln/>
        </p:spPr>
        <p:txBody>
          <a:bodyPr wrap="square" lIns="0" tIns="0" rIns="0" bIns="0" rtlCol="0" anchor="t"/>
          <a:lstStyle/>
          <a:p>
            <a:pPr algn="l" marL="342900" indent="-342900">
              <a:lnSpc>
                <a:spcPts val="1129"/>
              </a:lnSpc>
              <a:buSzPct val="100000"/>
              <a:buChar char="•"/>
            </a:pPr>
            <a:r>
              <a:rPr lang="en-US" sz="855" b="1" spc="-17" kern="0" dirty="0">
                <a:solidFill>
                  <a:srgbClr val="FFFFFF">
                    <a:alpha val="99000"/>
                  </a:srgbClr>
                </a:solidFill>
                <a:latin typeface="Inter" pitchFamily="34" charset="0"/>
                <a:ea typeface="Inter" pitchFamily="34" charset="-122"/>
                <a:cs typeface="Inter" pitchFamily="34" charset="-120"/>
              </a:rPr>
              <a:t>6 Stimmen synthetisieren
</a:t>
            </a:r>
            <a:endParaRPr lang="en-US" sz="855" dirty="0"/>
          </a:p>
          <a:p>
            <a:pPr algn="l" marL="342900" indent="-342900">
              <a:lnSpc>
                <a:spcPts val="1129"/>
              </a:lnSpc>
              <a:buSzPct val="100000"/>
              <a:buChar char="•"/>
            </a:pPr>
            <a:r>
              <a:rPr lang="en-US" sz="855" b="1" spc="-17" kern="0" dirty="0">
                <a:solidFill>
                  <a:srgbClr val="FFFFFF">
                    <a:alpha val="99000"/>
                  </a:srgbClr>
                </a:solidFill>
                <a:latin typeface="Inter" pitchFamily="34" charset="0"/>
                <a:ea typeface="Inter" pitchFamily="34" charset="-122"/>
                <a:cs typeface="Inter" pitchFamily="34" charset="-120"/>
              </a:rPr>
              <a:t>WAV-Dateien erzeugen
</a:t>
            </a:r>
            <a:endParaRPr lang="en-US" sz="855" dirty="0"/>
          </a:p>
        </p:txBody>
      </p:sp>
      <p:sp>
        <p:nvSpPr>
          <p:cNvPr id="33" name="Text 13"/>
          <p:cNvSpPr/>
          <p:nvPr/>
        </p:nvSpPr>
        <p:spPr>
          <a:xfrm>
            <a:off x="709613" y="2326272"/>
            <a:ext cx="615498" cy="615498"/>
          </a:xfrm>
          <a:prstGeom prst="ellipse">
            <a:avLst/>
          </a:prstGeom>
          <a:solidFill>
            <a:srgbClr val="000000"/>
          </a:solidFill>
          <a:ln/>
        </p:spPr>
        <p:txBody>
          <a:bodyPr wrap="square" rtlCol="0" anchor="ctr"/>
          <a:lstStyle/>
          <a:p>
            <a:pPr indent="0" marL="0">
              <a:buNone/>
            </a:pPr>
            <a:endParaRPr lang="en-US" dirty="0"/>
          </a:p>
        </p:txBody>
      </p:sp>
      <p:sp>
        <p:nvSpPr>
          <p:cNvPr id="34" name="Shape 14"/>
          <p:cNvSpPr/>
          <p:nvPr/>
        </p:nvSpPr>
        <p:spPr>
          <a:xfrm>
            <a:off x="423863" y="1571625"/>
            <a:ext cx="1126082" cy="336942"/>
          </a:xfrm>
          <a:prstGeom prst="rect">
            <a:avLst/>
          </a:prstGeom>
          <a:noFill/>
          <a:ln/>
        </p:spPr>
      </p:sp>
      <p:sp>
        <p:nvSpPr>
          <p:cNvPr id="35" name="Text 15"/>
          <p:cNvSpPr/>
          <p:nvPr/>
        </p:nvSpPr>
        <p:spPr>
          <a:xfrm>
            <a:off x="423863" y="1571625"/>
            <a:ext cx="1126082" cy="166688"/>
          </a:xfrm>
          <a:prstGeom prst="rect">
            <a:avLst/>
          </a:prstGeom>
          <a:noFill/>
          <a:ln/>
        </p:spPr>
        <p:txBody>
          <a:bodyPr wrap="square" lIns="0" tIns="0" rIns="0" bIns="0" rtlCol="0" anchor="t"/>
          <a:lstStyle/>
          <a:p>
            <a:pPr algn="ctr" indent="0" marL="0">
              <a:lnSpc>
                <a:spcPts val="1243"/>
              </a:lnSpc>
              <a:buNone/>
            </a:pPr>
            <a:r>
              <a:rPr lang="en-US" sz="942" b="1" spc="-19" kern="0" dirty="0">
                <a:solidFill>
                  <a:srgbClr val="FFFFFF">
                    <a:alpha val="99000"/>
                  </a:srgbClr>
                </a:solidFill>
                <a:latin typeface="Inter" pitchFamily="34" charset="0"/>
                <a:ea typeface="Inter" pitchFamily="34" charset="-122"/>
                <a:cs typeface="Inter" pitchFamily="34" charset="-120"/>
              </a:rPr>
              <a:t>Harvard 
</a:t>
            </a:r>
            <a:endParaRPr lang="en-US" sz="942" dirty="0"/>
          </a:p>
        </p:txBody>
      </p:sp>
      <p:sp>
        <p:nvSpPr>
          <p:cNvPr id="36" name="Text 16"/>
          <p:cNvSpPr/>
          <p:nvPr/>
        </p:nvSpPr>
        <p:spPr>
          <a:xfrm>
            <a:off x="423863" y="1794267"/>
            <a:ext cx="1126082" cy="114300"/>
          </a:xfrm>
          <a:prstGeom prst="rect">
            <a:avLst/>
          </a:prstGeom>
          <a:noFill/>
          <a:ln/>
        </p:spPr>
        <p:txBody>
          <a:bodyPr wrap="square" lIns="0" tIns="0" rIns="0" bIns="0" rtlCol="0" anchor="t"/>
          <a:lstStyle/>
          <a:p>
            <a:pPr algn="ctr" indent="0" marL="0">
              <a:lnSpc>
                <a:spcPts val="841"/>
              </a:lnSpc>
              <a:buNone/>
            </a:pPr>
            <a:r>
              <a:rPr lang="en-US" sz="628" spc="-3" kern="0" dirty="0">
                <a:solidFill>
                  <a:srgbClr val="FFFFFF">
                    <a:alpha val="99000"/>
                  </a:srgbClr>
                </a:solidFill>
                <a:latin typeface="Inter" pitchFamily="34" charset="0"/>
                <a:ea typeface="Inter" pitchFamily="34" charset="-122"/>
                <a:cs typeface="Inter" pitchFamily="34" charset="-120"/>
              </a:rPr>
              <a:t>sentences</a:t>
            </a:r>
            <a:endParaRPr lang="en-US" sz="628" dirty="0"/>
          </a:p>
        </p:txBody>
      </p:sp>
      <p:sp>
        <p:nvSpPr>
          <p:cNvPr id="37" name="Text 17"/>
          <p:cNvSpPr/>
          <p:nvPr/>
        </p:nvSpPr>
        <p:spPr>
          <a:xfrm>
            <a:off x="423863" y="3138488"/>
            <a:ext cx="1185863" cy="457200"/>
          </a:xfrm>
          <a:prstGeom prst="rect">
            <a:avLst/>
          </a:prstGeom>
          <a:noFill/>
          <a:ln/>
        </p:spPr>
        <p:txBody>
          <a:bodyPr wrap="square" lIns="0" tIns="0" rIns="0" bIns="0" rtlCol="0" anchor="t"/>
          <a:lstStyle/>
          <a:p>
            <a:pPr algn="l" marL="342900" indent="-342900">
              <a:lnSpc>
                <a:spcPts val="1129"/>
              </a:lnSpc>
              <a:buSzPct val="100000"/>
              <a:buChar char="•"/>
            </a:pPr>
            <a:r>
              <a:rPr lang="en-US" sz="855" b="1" spc="-17" kern="0" dirty="0">
                <a:solidFill>
                  <a:srgbClr val="FFFFFF">
                    <a:alpha val="99000"/>
                  </a:srgbClr>
                </a:solidFill>
                <a:latin typeface="Inter" pitchFamily="34" charset="0"/>
                <a:ea typeface="Inter" pitchFamily="34" charset="-122"/>
                <a:cs typeface="Inter" pitchFamily="34" charset="-120"/>
              </a:rPr>
              <a:t>Referenztext
</a:t>
            </a:r>
            <a:endParaRPr lang="en-US" sz="855" dirty="0"/>
          </a:p>
          <a:p>
            <a:pPr algn="l" marL="342900" indent="-342900">
              <a:lnSpc>
                <a:spcPts val="1129"/>
              </a:lnSpc>
              <a:buSzPct val="100000"/>
              <a:buChar char="•"/>
            </a:pPr>
            <a:r>
              <a:rPr lang="en-US" sz="855" b="1" spc="-17" kern="0" dirty="0">
                <a:solidFill>
                  <a:srgbClr val="FFFFFF">
                    <a:alpha val="99000"/>
                  </a:srgbClr>
                </a:solidFill>
                <a:latin typeface="Inter" pitchFamily="34" charset="0"/>
                <a:ea typeface="Inter" pitchFamily="34" charset="-122"/>
                <a:cs typeface="Inter" pitchFamily="34" charset="-120"/>
              </a:rPr>
              <a:t>(phonetisch ausgewogen)
</a:t>
            </a:r>
            <a:endParaRPr lang="en-US" sz="855" dirty="0"/>
          </a:p>
        </p:txBody>
      </p:sp>
      <p:sp>
        <p:nvSpPr>
          <p:cNvPr id="38" name="Text 18"/>
          <p:cNvSpPr/>
          <p:nvPr/>
        </p:nvSpPr>
        <p:spPr>
          <a:xfrm>
            <a:off x="3905250" y="3138488"/>
            <a:ext cx="1252538" cy="914400"/>
          </a:xfrm>
          <a:prstGeom prst="rect">
            <a:avLst/>
          </a:prstGeom>
          <a:noFill/>
          <a:ln/>
        </p:spPr>
        <p:txBody>
          <a:bodyPr wrap="square" lIns="0" tIns="0" rIns="0" bIns="0" rtlCol="0" anchor="t"/>
          <a:lstStyle/>
          <a:p>
            <a:pPr algn="l" marL="342900" indent="-342900">
              <a:lnSpc>
                <a:spcPts val="1129"/>
              </a:lnSpc>
              <a:buSzPct val="100000"/>
              <a:buChar char="•"/>
            </a:pPr>
            <a:r>
              <a:rPr lang="en-US" sz="855" b="1" spc="-17" kern="0" dirty="0">
                <a:solidFill>
                  <a:srgbClr val="FFFFFF">
                    <a:alpha val="99000"/>
                  </a:srgbClr>
                </a:solidFill>
                <a:latin typeface="Inter" pitchFamily="34" charset="0"/>
                <a:ea typeface="Inter" pitchFamily="34" charset="-122"/>
                <a:cs typeface="Inter" pitchFamily="34" charset="-120"/>
              </a:rPr>
              <a:t>NumPy: RMS-kalibriert
</a:t>
            </a:r>
            <a:endParaRPr lang="en-US" sz="855" dirty="0"/>
          </a:p>
          <a:p>
            <a:pPr algn="l" marL="342900" indent="-342900">
              <a:lnSpc>
                <a:spcPts val="1129"/>
              </a:lnSpc>
              <a:buSzPct val="100000"/>
              <a:buChar char="•"/>
            </a:pPr>
            <a:r>
              <a:rPr lang="en-US" sz="855" b="1" spc="-17" kern="0" dirty="0">
                <a:solidFill>
                  <a:srgbClr val="FFFFFF">
                    <a:alpha val="99000"/>
                  </a:srgbClr>
                </a:solidFill>
                <a:latin typeface="Inter" pitchFamily="34" charset="0"/>
                <a:ea typeface="Inter" pitchFamily="34" charset="-122"/>
                <a:cs typeface="Inter" pitchFamily="34" charset="-120"/>
              </a:rPr>
              <a:t>White / Pink / Blue Noise  </a:t>
            </a:r>
            <a:endParaRPr lang="en-US" sz="855" dirty="0"/>
          </a:p>
          <a:p>
            <a:pPr algn="l" marL="342900" indent="-342900">
              <a:lnSpc>
                <a:spcPts val="1129"/>
              </a:lnSpc>
              <a:buSzPct val="100000"/>
              <a:buChar char="•"/>
            </a:pPr>
            <a:r>
              <a:rPr lang="en-US" sz="855" b="1" spc="-17" kern="0" dirty="0">
                <a:solidFill>
                  <a:srgbClr val="FFFFFF">
                    <a:alpha val="99000"/>
                  </a:srgbClr>
                </a:solidFill>
                <a:latin typeface="Inter" pitchFamily="34" charset="0"/>
                <a:ea typeface="Inter" pitchFamily="34" charset="-122"/>
                <a:cs typeface="Inter" pitchFamily="34" charset="-120"/>
              </a:rPr>
              <a:t>Noise + Sprachsignal mixen</a:t>
            </a:r>
            <a:endParaRPr lang="en-US" sz="855" dirty="0"/>
          </a:p>
        </p:txBody>
      </p:sp>
      <p:sp>
        <p:nvSpPr>
          <p:cNvPr id="39" name="Text 19"/>
          <p:cNvSpPr/>
          <p:nvPr/>
        </p:nvSpPr>
        <p:spPr>
          <a:xfrm>
            <a:off x="5700713" y="3152775"/>
            <a:ext cx="1000125" cy="457200"/>
          </a:xfrm>
          <a:prstGeom prst="rect">
            <a:avLst/>
          </a:prstGeom>
          <a:noFill/>
          <a:ln/>
        </p:spPr>
        <p:txBody>
          <a:bodyPr wrap="square" lIns="0" tIns="0" rIns="0" bIns="0" rtlCol="0" anchor="t"/>
          <a:lstStyle/>
          <a:p>
            <a:pPr algn="l" marL="342900" indent="-342900">
              <a:lnSpc>
                <a:spcPts val="1129"/>
              </a:lnSpc>
              <a:buSzPct val="100000"/>
              <a:buChar char="•"/>
            </a:pPr>
            <a:r>
              <a:rPr lang="en-US" sz="855" b="1" spc="-17" kern="0" dirty="0">
                <a:solidFill>
                  <a:srgbClr val="FFFFFF">
                    <a:alpha val="99000"/>
                  </a:srgbClr>
                </a:solidFill>
                <a:latin typeface="Inter" pitchFamily="34" charset="0"/>
                <a:ea typeface="Inter" pitchFamily="34" charset="-122"/>
                <a:cs typeface="Inter" pitchFamily="34" charset="-120"/>
              </a:rPr>
              <a:t>Turbo-Modell
</a:t>
            </a:r>
            <a:endParaRPr lang="en-US" sz="855" dirty="0"/>
          </a:p>
          <a:p>
            <a:pPr algn="l" marL="342900" indent="-342900">
              <a:lnSpc>
                <a:spcPts val="1129"/>
              </a:lnSpc>
              <a:buSzPct val="100000"/>
              <a:buChar char="•"/>
            </a:pPr>
            <a:r>
              <a:rPr lang="en-US" sz="855" b="1" spc="-17" kern="0" dirty="0">
                <a:solidFill>
                  <a:srgbClr val="FFFFFF">
                    <a:alpha val="99000"/>
                  </a:srgbClr>
                </a:solidFill>
                <a:latin typeface="Inter" pitchFamily="34" charset="0"/>
                <a:ea typeface="Inter" pitchFamily="34" charset="-122"/>
                <a:cs typeface="Inter" pitchFamily="34" charset="-120"/>
              </a:rPr>
              <a:t>Transkription erzeugen
</a:t>
            </a:r>
            <a:endParaRPr lang="en-US" sz="855" dirty="0"/>
          </a:p>
        </p:txBody>
      </p:sp>
      <p:sp>
        <p:nvSpPr>
          <p:cNvPr id="40" name="Shape 20"/>
          <p:cNvSpPr/>
          <p:nvPr/>
        </p:nvSpPr>
        <p:spPr>
          <a:xfrm>
            <a:off x="3863704" y="1571625"/>
            <a:ext cx="1126082" cy="336942"/>
          </a:xfrm>
          <a:prstGeom prst="rect">
            <a:avLst/>
          </a:prstGeom>
          <a:noFill/>
          <a:ln/>
        </p:spPr>
      </p:sp>
      <p:sp>
        <p:nvSpPr>
          <p:cNvPr id="41" name="Text 21"/>
          <p:cNvSpPr/>
          <p:nvPr/>
        </p:nvSpPr>
        <p:spPr>
          <a:xfrm>
            <a:off x="3863704" y="1571625"/>
            <a:ext cx="1126082" cy="166688"/>
          </a:xfrm>
          <a:prstGeom prst="rect">
            <a:avLst/>
          </a:prstGeom>
          <a:noFill/>
          <a:ln/>
        </p:spPr>
        <p:txBody>
          <a:bodyPr wrap="square" lIns="0" tIns="0" rIns="0" bIns="0" rtlCol="0" anchor="t"/>
          <a:lstStyle/>
          <a:p>
            <a:pPr algn="ctr" indent="0" marL="0">
              <a:lnSpc>
                <a:spcPts val="1243"/>
              </a:lnSpc>
              <a:buNone/>
            </a:pPr>
            <a:r>
              <a:rPr lang="en-US" sz="942" b="1" spc="-19" kern="0" dirty="0">
                <a:solidFill>
                  <a:srgbClr val="FFFFFF">
                    <a:alpha val="99000"/>
                  </a:srgbClr>
                </a:solidFill>
                <a:latin typeface="Inter" pitchFamily="34" charset="0"/>
                <a:ea typeface="Inter" pitchFamily="34" charset="-122"/>
                <a:cs typeface="Inter" pitchFamily="34" charset="-120"/>
              </a:rPr>
              <a:t>Noise Mixing
</a:t>
            </a:r>
            <a:endParaRPr lang="en-US" sz="942" dirty="0"/>
          </a:p>
        </p:txBody>
      </p:sp>
      <p:sp>
        <p:nvSpPr>
          <p:cNvPr id="42" name="Text 22"/>
          <p:cNvSpPr/>
          <p:nvPr/>
        </p:nvSpPr>
        <p:spPr>
          <a:xfrm>
            <a:off x="3863704" y="1794267"/>
            <a:ext cx="1126082" cy="114300"/>
          </a:xfrm>
          <a:prstGeom prst="rect">
            <a:avLst/>
          </a:prstGeom>
          <a:noFill/>
          <a:ln/>
        </p:spPr>
        <p:txBody>
          <a:bodyPr wrap="square" lIns="0" tIns="0" rIns="0" bIns="0" rtlCol="0" anchor="t"/>
          <a:lstStyle/>
          <a:p>
            <a:pPr algn="ctr" indent="0" marL="0">
              <a:lnSpc>
                <a:spcPts val="841"/>
              </a:lnSpc>
              <a:buNone/>
            </a:pPr>
            <a:r>
              <a:rPr lang="en-US" sz="628" spc="-3" kern="0" dirty="0">
                <a:solidFill>
                  <a:srgbClr val="FFFFFF">
                    <a:alpha val="99000"/>
                  </a:srgbClr>
                </a:solidFill>
                <a:latin typeface="Inter" pitchFamily="34" charset="0"/>
                <a:ea typeface="Inter" pitchFamily="34" charset="-122"/>
                <a:cs typeface="Inter" pitchFamily="34" charset="-120"/>
              </a:rPr>
              <a:t>noisy WAV</a:t>
            </a:r>
            <a:endParaRPr lang="en-US" sz="628" dirty="0"/>
          </a:p>
        </p:txBody>
      </p:sp>
      <p:sp>
        <p:nvSpPr>
          <p:cNvPr id="43" name="Shape 23"/>
          <p:cNvSpPr/>
          <p:nvPr/>
        </p:nvSpPr>
        <p:spPr>
          <a:xfrm>
            <a:off x="5506538" y="1571625"/>
            <a:ext cx="1332414" cy="336942"/>
          </a:xfrm>
          <a:prstGeom prst="rect">
            <a:avLst/>
          </a:prstGeom>
          <a:noFill/>
          <a:ln/>
        </p:spPr>
      </p:sp>
      <p:sp>
        <p:nvSpPr>
          <p:cNvPr id="44" name="Text 24"/>
          <p:cNvSpPr/>
          <p:nvPr/>
        </p:nvSpPr>
        <p:spPr>
          <a:xfrm>
            <a:off x="5506538" y="1571625"/>
            <a:ext cx="1332414" cy="166688"/>
          </a:xfrm>
          <a:prstGeom prst="rect">
            <a:avLst/>
          </a:prstGeom>
          <a:noFill/>
          <a:ln/>
        </p:spPr>
        <p:txBody>
          <a:bodyPr wrap="square" lIns="0" tIns="0" rIns="0" bIns="0" rtlCol="0" anchor="t"/>
          <a:lstStyle/>
          <a:p>
            <a:pPr algn="ctr" indent="0" marL="0">
              <a:lnSpc>
                <a:spcPts val="1243"/>
              </a:lnSpc>
              <a:buNone/>
            </a:pPr>
            <a:r>
              <a:rPr lang="en-US" sz="942" b="1" spc="-19" kern="0" dirty="0">
                <a:solidFill>
                  <a:srgbClr val="FFFFFF">
                    <a:alpha val="99000"/>
                  </a:srgbClr>
                </a:solidFill>
                <a:latin typeface="Inter" pitchFamily="34" charset="0"/>
                <a:ea typeface="Inter" pitchFamily="34" charset="-122"/>
                <a:cs typeface="Inter" pitchFamily="34" charset="-120"/>
              </a:rPr>
              <a:t>Whisper</a:t>
            </a:r>
            <a:endParaRPr lang="en-US" sz="942" dirty="0"/>
          </a:p>
        </p:txBody>
      </p:sp>
      <p:sp>
        <p:nvSpPr>
          <p:cNvPr id="45" name="Text 25"/>
          <p:cNvSpPr/>
          <p:nvPr/>
        </p:nvSpPr>
        <p:spPr>
          <a:xfrm>
            <a:off x="5506538" y="1794267"/>
            <a:ext cx="1332414" cy="114300"/>
          </a:xfrm>
          <a:prstGeom prst="rect">
            <a:avLst/>
          </a:prstGeom>
          <a:noFill/>
          <a:ln/>
        </p:spPr>
        <p:txBody>
          <a:bodyPr wrap="square" lIns="0" tIns="0" rIns="0" bIns="0" rtlCol="0" anchor="t"/>
          <a:lstStyle/>
          <a:p>
            <a:pPr algn="ctr" indent="0" marL="0">
              <a:lnSpc>
                <a:spcPts val="841"/>
              </a:lnSpc>
              <a:buNone/>
            </a:pPr>
            <a:r>
              <a:rPr lang="en-US" sz="628" spc="-3" kern="0" dirty="0">
                <a:solidFill>
                  <a:srgbClr val="FFFFFF">
                    <a:alpha val="99000"/>
                  </a:srgbClr>
                </a:solidFill>
                <a:latin typeface="Inter" pitchFamily="34" charset="0"/>
                <a:ea typeface="Inter" pitchFamily="34" charset="-122"/>
                <a:cs typeface="Inter" pitchFamily="34" charset="-120"/>
              </a:rPr>
              <a:t>transcript</a:t>
            </a:r>
            <a:endParaRPr lang="en-US" sz="628" dirty="0"/>
          </a:p>
        </p:txBody>
      </p:sp>
      <p:sp>
        <p:nvSpPr>
          <p:cNvPr id="46" name="Text 26"/>
          <p:cNvSpPr/>
          <p:nvPr/>
        </p:nvSpPr>
        <p:spPr>
          <a:xfrm>
            <a:off x="381000" y="4710113"/>
            <a:ext cx="4495800" cy="133350"/>
          </a:xfrm>
          <a:prstGeom prst="rect">
            <a:avLst/>
          </a:prstGeom>
          <a:noFill/>
          <a:ln/>
        </p:spPr>
        <p:txBody>
          <a:bodyPr wrap="square" lIns="0" tIns="0" rIns="0" bIns="0" rtlCol="0" anchor="t"/>
          <a:lstStyle/>
          <a:p>
            <a:pPr algn="l" indent="0" marL="0">
              <a:lnSpc>
                <a:spcPts val="998"/>
              </a:lnSpc>
              <a:buNone/>
            </a:pPr>
            <a:r>
              <a:rPr lang="en-US" sz="713" dirty="0">
                <a:solidFill>
                  <a:srgbClr val="606063">
                    <a:alpha val="99000"/>
                  </a:srgbClr>
                </a:solidFill>
                <a:latin typeface="Rethink Sans" pitchFamily="34" charset="0"/>
                <a:ea typeface="Rethink Sans" pitchFamily="34" charset="-122"/>
                <a:cs typeface="Rethink Sans" pitchFamily="34" charset="-120"/>
              </a:rPr>
              <a:t>113457a Speech Interaction | Lars Gerigk (lg107) | Nils Fink (nf056)</a:t>
            </a:r>
            <a:endParaRPr lang="en-US" sz="713" dirty="0"/>
          </a:p>
        </p:txBody>
      </p:sp>
      <p:pic>
        <p:nvPicPr>
          <p:cNvPr id="47" name="Image 17" descr="preencoded.png">    </p:cNvPr>
          <p:cNvPicPr>
            <a:picLocks noChangeAspect="1"/>
          </p:cNvPicPr>
          <p:nvPr/>
        </p:nvPicPr>
        <p:blipFill>
          <a:blip r:embed="rId18"/>
          <a:srcRect l="0" r="0" t="0" b="0"/>
          <a:stretch/>
        </p:blipFill>
        <p:spPr>
          <a:xfrm>
            <a:off x="4257675" y="2428875"/>
            <a:ext cx="404813" cy="404813"/>
          </a:xfrm>
          <a:prstGeom prst="rect">
            <a:avLst/>
          </a:prstGeom>
        </p:spPr>
      </p:pic>
      <p:pic>
        <p:nvPicPr>
          <p:cNvPr id="48" name="Image 18" descr="preencoded.png">    </p:cNvPr>
          <p:cNvPicPr>
            <a:picLocks noChangeAspect="1"/>
          </p:cNvPicPr>
          <p:nvPr/>
        </p:nvPicPr>
        <p:blipFill>
          <a:blip r:embed="rId19"/>
          <a:srcRect l="0" r="0" t="0" b="0"/>
          <a:stretch/>
        </p:blipFill>
        <p:spPr>
          <a:xfrm>
            <a:off x="585788" y="2300288"/>
            <a:ext cx="866775" cy="70008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rcRect l="0" r="0" t="0" b="0"/>
          <a:stretch/>
        </p:blipFill>
        <p:spPr>
          <a:xfrm>
            <a:off x="114300" y="85725"/>
            <a:ext cx="8915400" cy="4967288"/>
          </a:xfrm>
          <a:prstGeom prst="rect">
            <a:avLst/>
          </a:prstGeom>
        </p:spPr>
      </p:pic>
      <p:pic>
        <p:nvPicPr>
          <p:cNvPr id="4" name="Image 1" descr="preencoded.png">    </p:cNvPr>
          <p:cNvPicPr>
            <a:picLocks noChangeAspect="1"/>
          </p:cNvPicPr>
          <p:nvPr/>
        </p:nvPicPr>
        <p:blipFill>
          <a:blip r:embed="rId2"/>
          <a:srcRect l="0" r="0" t="0" b="0"/>
          <a:stretch/>
        </p:blipFill>
        <p:spPr>
          <a:xfrm>
            <a:off x="3567113" y="1362075"/>
            <a:ext cx="5272088" cy="1566863"/>
          </a:xfrm>
          <a:prstGeom prst="rect">
            <a:avLst/>
          </a:prstGeom>
        </p:spPr>
      </p:pic>
      <p:sp>
        <p:nvSpPr>
          <p:cNvPr id="5" name="Text 0"/>
          <p:cNvSpPr/>
          <p:nvPr/>
        </p:nvSpPr>
        <p:spPr>
          <a:xfrm>
            <a:off x="3905250" y="1428750"/>
            <a:ext cx="3233738" cy="1371600"/>
          </a:xfrm>
          <a:prstGeom prst="rect">
            <a:avLst/>
          </a:prstGeom>
          <a:noFill/>
          <a:ln/>
        </p:spPr>
        <p:txBody>
          <a:bodyPr wrap="square" lIns="0" tIns="0" rIns="0" bIns="0" rtlCol="0" anchor="t"/>
          <a:lstStyle/>
          <a:p>
            <a:pPr algn="l" indent="0" marL="0">
              <a:lnSpc>
                <a:spcPts val="2565"/>
              </a:lnSpc>
              <a:buNone/>
            </a:pPr>
            <a:r>
              <a:rPr lang="en-US" sz="1283" spc="-26" kern="0" dirty="0">
                <a:solidFill>
                  <a:srgbClr val="FFFFFF">
                    <a:alpha val="99000"/>
                  </a:srgbClr>
                </a:solidFill>
                <a:latin typeface="Inter" pitchFamily="34" charset="0"/>
                <a:ea typeface="Inter" pitchFamily="34" charset="-122"/>
                <a:cs typeface="Inter" pitchFamily="34" charset="-120"/>
              </a:rPr>
              <a:t>Empfehlung des Dozenten
</a:t>
            </a:r>
            <a:endParaRPr lang="en-US" sz="1283" dirty="0"/>
          </a:p>
          <a:p>
            <a:pPr algn="l" indent="0" marL="0">
              <a:lnSpc>
                <a:spcPts val="2565"/>
              </a:lnSpc>
              <a:buNone/>
            </a:pPr>
            <a:r>
              <a:rPr lang="en-US" sz="1283" spc="-26" kern="0" dirty="0">
                <a:solidFill>
                  <a:srgbClr val="FFFFFF">
                    <a:alpha val="99000"/>
                  </a:srgbClr>
                </a:solidFill>
                <a:latin typeface="Inter" pitchFamily="34" charset="0"/>
                <a:ea typeface="Inter" pitchFamily="34" charset="-122"/>
                <a:cs typeface="Inter" pitchFamily="34" charset="-120"/>
              </a:rPr>
              <a:t>Implementierung</a:t>
            </a:r>
            <a:endParaRPr lang="en-US" sz="1283" dirty="0"/>
          </a:p>
          <a:p>
            <a:pPr algn="l" indent="0" marL="0">
              <a:lnSpc>
                <a:spcPts val="2565"/>
              </a:lnSpc>
              <a:buNone/>
            </a:pPr>
            <a:r>
              <a:rPr lang="en-US" sz="1283" spc="-26" kern="0" dirty="0">
                <a:solidFill>
                  <a:srgbClr val="FFFFFF">
                    <a:alpha val="99000"/>
                  </a:srgbClr>
                </a:solidFill>
                <a:latin typeface="Inter" pitchFamily="34" charset="0"/>
                <a:ea typeface="Inter" pitchFamily="34" charset="-122"/>
                <a:cs typeface="Inter" pitchFamily="34" charset="-120"/>
              </a:rPr>
              <a:t>Aber: keine RMS-Kalibrierung</a:t>
            </a:r>
            <a:endParaRPr lang="en-US" sz="1283" dirty="0"/>
          </a:p>
          <a:p>
            <a:pPr algn="l" indent="0" marL="0">
              <a:lnSpc>
                <a:spcPts val="2565"/>
              </a:lnSpc>
              <a:buNone/>
            </a:pPr>
            <a:r>
              <a:rPr lang="en-US" sz="1283" spc="-26" kern="0" dirty="0">
                <a:solidFill>
                  <a:srgbClr val="FFFFFF">
                    <a:alpha val="99000"/>
                  </a:srgbClr>
                </a:solidFill>
                <a:latin typeface="Inter" pitchFamily="34" charset="0"/>
                <a:ea typeface="Inter" pitchFamily="34" charset="-122"/>
                <a:cs typeface="Inter" pitchFamily="34" charset="-120"/>
              </a:rPr>
              <a:t>SNR-Werte nicht vergleichbar</a:t>
            </a:r>
            <a:endParaRPr lang="en-US" sz="1283" dirty="0"/>
          </a:p>
        </p:txBody>
      </p:sp>
      <p:sp>
        <p:nvSpPr>
          <p:cNvPr id="6" name="Text 1"/>
          <p:cNvSpPr/>
          <p:nvPr/>
        </p:nvSpPr>
        <p:spPr>
          <a:xfrm>
            <a:off x="904875" y="1438275"/>
            <a:ext cx="2100263" cy="366713"/>
          </a:xfrm>
          <a:prstGeom prst="rect">
            <a:avLst/>
          </a:prstGeom>
          <a:noFill/>
          <a:ln/>
        </p:spPr>
        <p:txBody>
          <a:bodyPr wrap="square" lIns="0" tIns="0" rIns="0" bIns="0" rtlCol="0" anchor="ctr"/>
          <a:lstStyle/>
          <a:p>
            <a:pPr algn="l" indent="0" marL="0">
              <a:lnSpc>
                <a:spcPts val="2736"/>
              </a:lnSpc>
              <a:buNone/>
            </a:pPr>
            <a:r>
              <a:rPr lang="en-US" sz="2280" spc="-46" kern="0" dirty="0">
                <a:solidFill>
                  <a:srgbClr val="FFFFFF">
                    <a:alpha val="99000"/>
                  </a:srgbClr>
                </a:solidFill>
                <a:latin typeface="Rethink Sans" pitchFamily="34" charset="0"/>
                <a:ea typeface="Rethink Sans" pitchFamily="34" charset="-122"/>
                <a:cs typeface="Rethink Sans" pitchFamily="34" charset="-120"/>
              </a:rPr>
              <a:t>ffmpeg</a:t>
            </a:r>
            <a:endParaRPr lang="en-US" sz="2280" dirty="0"/>
          </a:p>
        </p:txBody>
      </p:sp>
      <p:sp>
        <p:nvSpPr>
          <p:cNvPr id="7" name="Text 2"/>
          <p:cNvSpPr/>
          <p:nvPr/>
        </p:nvSpPr>
        <p:spPr>
          <a:xfrm>
            <a:off x="904875" y="3109913"/>
            <a:ext cx="4552950" cy="366713"/>
          </a:xfrm>
          <a:prstGeom prst="rect">
            <a:avLst/>
          </a:prstGeom>
          <a:noFill/>
          <a:ln/>
        </p:spPr>
        <p:txBody>
          <a:bodyPr wrap="square" lIns="0" tIns="0" rIns="0" bIns="0" rtlCol="0" anchor="ctr"/>
          <a:lstStyle/>
          <a:p>
            <a:pPr algn="l" indent="0" marL="0">
              <a:lnSpc>
                <a:spcPts val="2736"/>
              </a:lnSpc>
              <a:buNone/>
            </a:pPr>
            <a:r>
              <a:rPr lang="en-US" sz="2280" spc="-46" kern="0" dirty="0">
                <a:solidFill>
                  <a:srgbClr val="FFFFFF">
                    <a:alpha val="99000"/>
                  </a:srgbClr>
                </a:solidFill>
                <a:latin typeface="Rethink Sans" pitchFamily="34" charset="0"/>
                <a:ea typeface="Rethink Sans" pitchFamily="34" charset="-122"/>
                <a:cs typeface="Rethink Sans" pitchFamily="34" charset="-120"/>
              </a:rPr>
              <a:t>NumPy</a:t>
            </a:r>
            <a:endParaRPr lang="en-US" sz="2280" dirty="0"/>
          </a:p>
        </p:txBody>
      </p:sp>
      <p:sp>
        <p:nvSpPr>
          <p:cNvPr id="8" name="Text 3"/>
          <p:cNvSpPr/>
          <p:nvPr/>
        </p:nvSpPr>
        <p:spPr>
          <a:xfrm>
            <a:off x="495300" y="1362075"/>
            <a:ext cx="114300" cy="3238500"/>
          </a:xfrm>
          <a:prstGeom prst="roundRect">
            <a:avLst>
              <a:gd name="adj" fmla="val 160000"/>
            </a:avLst>
          </a:prstGeom>
          <a:solidFill>
            <a:srgbClr val="313131"/>
          </a:solidFill>
          <a:ln/>
        </p:spPr>
        <p:txBody>
          <a:bodyPr wrap="square" rtlCol="0" anchor="ctr"/>
          <a:lstStyle/>
          <a:p>
            <a:pPr indent="0" marL="0">
              <a:buNone/>
            </a:pPr>
            <a:endParaRPr lang="en-US" dirty="0"/>
          </a:p>
        </p:txBody>
      </p:sp>
      <p:sp>
        <p:nvSpPr>
          <p:cNvPr id="9" name="Text 4"/>
          <p:cNvSpPr/>
          <p:nvPr/>
        </p:nvSpPr>
        <p:spPr>
          <a:xfrm>
            <a:off x="495300" y="2886075"/>
            <a:ext cx="114300" cy="1733550"/>
          </a:xfrm>
          <a:prstGeom prst="roundRect">
            <a:avLst>
              <a:gd name="adj" fmla="val 160000"/>
            </a:avLst>
          </a:prstGeom>
          <a:solidFill>
            <a:srgbClr val="00DC82"/>
          </a:solidFill>
          <a:ln/>
        </p:spPr>
        <p:txBody>
          <a:bodyPr wrap="square" rtlCol="0" anchor="ctr"/>
          <a:lstStyle/>
          <a:p>
            <a:pPr indent="0" marL="0">
              <a:buNone/>
            </a:pPr>
            <a:endParaRPr lang="en-US" dirty="0"/>
          </a:p>
        </p:txBody>
      </p:sp>
      <p:pic>
        <p:nvPicPr>
          <p:cNvPr id="10" name="Image 2" descr="preencoded.png">    </p:cNvPr>
          <p:cNvPicPr>
            <a:picLocks noChangeAspect="1"/>
          </p:cNvPicPr>
          <p:nvPr/>
        </p:nvPicPr>
        <p:blipFill>
          <a:blip r:embed="rId3"/>
          <a:srcRect l="0" r="0" t="0" b="0"/>
          <a:stretch/>
        </p:blipFill>
        <p:spPr>
          <a:xfrm>
            <a:off x="3567113" y="3033713"/>
            <a:ext cx="5272088" cy="1566863"/>
          </a:xfrm>
          <a:prstGeom prst="rect">
            <a:avLst/>
          </a:prstGeom>
        </p:spPr>
      </p:pic>
      <p:sp>
        <p:nvSpPr>
          <p:cNvPr id="11" name="Text 5"/>
          <p:cNvSpPr/>
          <p:nvPr/>
        </p:nvSpPr>
        <p:spPr>
          <a:xfrm>
            <a:off x="3905250" y="3100388"/>
            <a:ext cx="3233738" cy="1371600"/>
          </a:xfrm>
          <a:prstGeom prst="rect">
            <a:avLst/>
          </a:prstGeom>
          <a:noFill/>
          <a:ln/>
        </p:spPr>
        <p:txBody>
          <a:bodyPr wrap="square" lIns="0" tIns="0" rIns="0" bIns="0" rtlCol="0" anchor="t"/>
          <a:lstStyle/>
          <a:p>
            <a:pPr algn="l" indent="0" marL="0">
              <a:lnSpc>
                <a:spcPts val="2565"/>
              </a:lnSpc>
              <a:buNone/>
            </a:pPr>
            <a:r>
              <a:rPr lang="en-US" sz="1283" spc="-26" kern="0" dirty="0">
                <a:solidFill>
                  <a:srgbClr val="FFFFFF">
                    <a:alpha val="99000"/>
                  </a:srgbClr>
                </a:solidFill>
                <a:latin typeface="Inter" pitchFamily="34" charset="0"/>
                <a:ea typeface="Inter" pitchFamily="34" charset="-122"/>
                <a:cs typeface="Inter" pitchFamily="34" charset="-120"/>
              </a:rPr>
              <a:t>Rauschsignale als Arrays</a:t>
            </a:r>
            <a:endParaRPr lang="en-US" sz="1283" dirty="0"/>
          </a:p>
          <a:p>
            <a:pPr algn="l" indent="0" marL="0">
              <a:lnSpc>
                <a:spcPts val="2565"/>
              </a:lnSpc>
              <a:buNone/>
            </a:pPr>
            <a:r>
              <a:rPr lang="en-US" sz="1283" spc="-26" kern="0" dirty="0">
                <a:solidFill>
                  <a:srgbClr val="FFFFFF">
                    <a:alpha val="99000"/>
                  </a:srgbClr>
                </a:solidFill>
                <a:latin typeface="Inter" pitchFamily="34" charset="0"/>
                <a:ea typeface="Inter" pitchFamily="34" charset="-122"/>
                <a:cs typeface="Inter" pitchFamily="34" charset="-120"/>
              </a:rPr>
              <a:t>RMS direkt berechenbar</a:t>
            </a:r>
            <a:endParaRPr lang="en-US" sz="1283" dirty="0"/>
          </a:p>
          <a:p>
            <a:pPr algn="l" indent="0" marL="0">
              <a:lnSpc>
                <a:spcPts val="2565"/>
              </a:lnSpc>
              <a:buNone/>
            </a:pPr>
            <a:r>
              <a:rPr lang="en-US" sz="1283" spc="-26" kern="0" dirty="0">
                <a:solidFill>
                  <a:srgbClr val="FFFFFF">
                    <a:alpha val="99000"/>
                  </a:srgbClr>
                </a:solidFill>
                <a:latin typeface="Inter" pitchFamily="34" charset="0"/>
                <a:ea typeface="Inter" pitchFamily="34" charset="-122"/>
                <a:cs typeface="Inter" pitchFamily="34" charset="-120"/>
              </a:rPr>
              <a:t>Exakte SNR-Kalibrierung</a:t>
            </a:r>
            <a:endParaRPr lang="en-US" sz="1283" dirty="0"/>
          </a:p>
          <a:p>
            <a:pPr algn="l" indent="0" marL="0">
              <a:lnSpc>
                <a:spcPts val="2565"/>
              </a:lnSpc>
              <a:buNone/>
            </a:pPr>
            <a:r>
              <a:rPr lang="en-US" sz="1283" spc="-26" kern="0" dirty="0">
                <a:solidFill>
                  <a:srgbClr val="FFFFFF">
                    <a:alpha val="99000"/>
                  </a:srgbClr>
                </a:solidFill>
                <a:latin typeface="Inter" pitchFamily="34" charset="0"/>
                <a:ea typeface="Inter" pitchFamily="34" charset="-122"/>
                <a:cs typeface="Inter" pitchFamily="34" charset="-120"/>
              </a:rPr>
              <a:t>Reproduzierbar &amp; nachvollziehbar</a:t>
            </a:r>
            <a:endParaRPr lang="en-US" sz="1283" dirty="0"/>
          </a:p>
        </p:txBody>
      </p:sp>
      <p:pic>
        <p:nvPicPr>
          <p:cNvPr id="12" name="Image 3" descr="preencoded.png">    </p:cNvPr>
          <p:cNvPicPr>
            <a:picLocks noChangeAspect="1"/>
          </p:cNvPicPr>
          <p:nvPr/>
        </p:nvPicPr>
        <p:blipFill>
          <a:blip r:embed="rId4"/>
          <a:srcRect l="0" r="0" t="0" b="0"/>
          <a:stretch/>
        </p:blipFill>
        <p:spPr>
          <a:xfrm>
            <a:off x="3657600" y="1500188"/>
            <a:ext cx="204788" cy="190500"/>
          </a:xfrm>
          <a:prstGeom prst="rect">
            <a:avLst/>
          </a:prstGeom>
        </p:spPr>
      </p:pic>
      <p:pic>
        <p:nvPicPr>
          <p:cNvPr id="13" name="Image 4" descr="preencoded.png">    </p:cNvPr>
          <p:cNvPicPr>
            <a:picLocks noChangeAspect="1"/>
          </p:cNvPicPr>
          <p:nvPr/>
        </p:nvPicPr>
        <p:blipFill>
          <a:blip r:embed="rId5"/>
          <a:srcRect l="0" r="0" t="0" b="0"/>
          <a:stretch/>
        </p:blipFill>
        <p:spPr>
          <a:xfrm>
            <a:off x="3657600" y="1852612"/>
            <a:ext cx="204788" cy="190500"/>
          </a:xfrm>
          <a:prstGeom prst="rect">
            <a:avLst/>
          </a:prstGeom>
        </p:spPr>
      </p:pic>
      <p:pic>
        <p:nvPicPr>
          <p:cNvPr id="14" name="Image 5" descr="preencoded.png">    </p:cNvPr>
          <p:cNvPicPr>
            <a:picLocks noChangeAspect="1"/>
          </p:cNvPicPr>
          <p:nvPr/>
        </p:nvPicPr>
        <p:blipFill>
          <a:blip r:embed="rId6"/>
          <a:srcRect l="0" r="0" t="0" b="0"/>
          <a:stretch/>
        </p:blipFill>
        <p:spPr>
          <a:xfrm>
            <a:off x="3662362" y="3162300"/>
            <a:ext cx="204788" cy="190500"/>
          </a:xfrm>
          <a:prstGeom prst="rect">
            <a:avLst/>
          </a:prstGeom>
        </p:spPr>
      </p:pic>
      <p:pic>
        <p:nvPicPr>
          <p:cNvPr id="15" name="Image 6" descr="preencoded.png">    </p:cNvPr>
          <p:cNvPicPr>
            <a:picLocks noChangeAspect="1"/>
          </p:cNvPicPr>
          <p:nvPr/>
        </p:nvPicPr>
        <p:blipFill>
          <a:blip r:embed="rId7"/>
          <a:srcRect l="0" r="0" t="0" b="0"/>
          <a:stretch/>
        </p:blipFill>
        <p:spPr>
          <a:xfrm>
            <a:off x="3662362" y="3514725"/>
            <a:ext cx="204788" cy="190500"/>
          </a:xfrm>
          <a:prstGeom prst="rect">
            <a:avLst/>
          </a:prstGeom>
        </p:spPr>
      </p:pic>
      <p:pic>
        <p:nvPicPr>
          <p:cNvPr id="16" name="Image 7" descr="preencoded.png">    </p:cNvPr>
          <p:cNvPicPr>
            <a:picLocks noChangeAspect="1"/>
          </p:cNvPicPr>
          <p:nvPr/>
        </p:nvPicPr>
        <p:blipFill>
          <a:blip r:embed="rId8"/>
          <a:srcRect l="0" r="0" t="0" b="0"/>
          <a:stretch/>
        </p:blipFill>
        <p:spPr>
          <a:xfrm>
            <a:off x="3662362" y="3867150"/>
            <a:ext cx="204788" cy="190500"/>
          </a:xfrm>
          <a:prstGeom prst="rect">
            <a:avLst/>
          </a:prstGeom>
        </p:spPr>
      </p:pic>
      <p:pic>
        <p:nvPicPr>
          <p:cNvPr id="17" name="Image 8" descr="preencoded.png">    </p:cNvPr>
          <p:cNvPicPr>
            <a:picLocks noChangeAspect="1"/>
          </p:cNvPicPr>
          <p:nvPr/>
        </p:nvPicPr>
        <p:blipFill>
          <a:blip r:embed="rId9"/>
          <a:srcRect l="0" r="0" t="0" b="0"/>
          <a:stretch/>
        </p:blipFill>
        <p:spPr>
          <a:xfrm>
            <a:off x="3662362" y="4210050"/>
            <a:ext cx="204788" cy="190500"/>
          </a:xfrm>
          <a:prstGeom prst="rect">
            <a:avLst/>
          </a:prstGeom>
        </p:spPr>
      </p:pic>
      <p:sp>
        <p:nvSpPr>
          <p:cNvPr id="18" name="Text 6"/>
          <p:cNvSpPr/>
          <p:nvPr/>
        </p:nvSpPr>
        <p:spPr>
          <a:xfrm>
            <a:off x="366713" y="395288"/>
            <a:ext cx="4886325" cy="547688"/>
          </a:xfrm>
          <a:prstGeom prst="rect">
            <a:avLst/>
          </a:prstGeom>
          <a:noFill/>
          <a:ln/>
        </p:spPr>
        <p:txBody>
          <a:bodyPr wrap="square" lIns="0" tIns="0" rIns="0" bIns="0" rtlCol="0" anchor="ctr"/>
          <a:lstStyle/>
          <a:p>
            <a:pPr algn="l" indent="0" marL="0">
              <a:lnSpc>
                <a:spcPts val="4104"/>
              </a:lnSpc>
              <a:buNone/>
            </a:pPr>
            <a:r>
              <a:rPr lang="en-US" sz="3420" b="1" spc="-75" kern="0" dirty="0">
                <a:solidFill>
                  <a:srgbClr val="FFFFFF">
                    <a:alpha val="99000"/>
                  </a:srgbClr>
                </a:solidFill>
                <a:latin typeface="Rethink Sans" pitchFamily="34" charset="0"/>
                <a:ea typeface="Rethink Sans" pitchFamily="34" charset="-122"/>
                <a:cs typeface="Rethink Sans" pitchFamily="34" charset="-120"/>
              </a:rPr>
              <a:t>Implementierung</a:t>
            </a:r>
            <a:endParaRPr lang="en-US" sz="3420" dirty="0"/>
          </a:p>
        </p:txBody>
      </p:sp>
      <p:sp>
        <p:nvSpPr>
          <p:cNvPr id="19" name="Shape 7"/>
          <p:cNvSpPr/>
          <p:nvPr/>
        </p:nvSpPr>
        <p:spPr>
          <a:xfrm rot="15045">
            <a:off x="366713" y="919162"/>
            <a:ext cx="2166958" cy="0"/>
          </a:xfrm>
          <a:prstGeom prst="line">
            <a:avLst/>
          </a:prstGeom>
          <a:noFill/>
          <a:ln w="18097">
            <a:solidFill>
              <a:srgbClr val="41B883"/>
            </a:solidFill>
            <a:prstDash val="solid"/>
          </a:ln>
        </p:spPr>
      </p:sp>
      <p:sp>
        <p:nvSpPr>
          <p:cNvPr id="20" name="Text 8"/>
          <p:cNvSpPr/>
          <p:nvPr/>
        </p:nvSpPr>
        <p:spPr>
          <a:xfrm>
            <a:off x="352425" y="914400"/>
            <a:ext cx="8162925" cy="342900"/>
          </a:xfrm>
          <a:prstGeom prst="rect">
            <a:avLst/>
          </a:prstGeom>
          <a:noFill/>
          <a:ln/>
        </p:spPr>
        <p:txBody>
          <a:bodyPr wrap="square" lIns="0" tIns="0" rIns="0" bIns="0" rtlCol="0" anchor="t"/>
          <a:lstStyle/>
          <a:p>
            <a:pPr algn="l" indent="0" marL="0">
              <a:lnSpc>
                <a:spcPts val="2565"/>
              </a:lnSpc>
              <a:buNone/>
            </a:pPr>
            <a:r>
              <a:rPr lang="en-US" sz="1283" spc="-13" kern="0" dirty="0">
                <a:solidFill>
                  <a:srgbClr val="FBFAFB">
                    <a:alpha val="99000"/>
                  </a:srgbClr>
                </a:solidFill>
                <a:latin typeface="Rethink Sans" pitchFamily="34" charset="0"/>
                <a:ea typeface="Rethink Sans" pitchFamily="34" charset="-122"/>
                <a:cs typeface="Rethink Sans" pitchFamily="34" charset="-120"/>
              </a:rPr>
              <a:t>Entscheidung: Rauschgenierung</a:t>
            </a:r>
            <a:endParaRPr lang="en-US" sz="1283" dirty="0"/>
          </a:p>
        </p:txBody>
      </p:sp>
      <p:sp>
        <p:nvSpPr>
          <p:cNvPr id="21" name="Text 9"/>
          <p:cNvSpPr/>
          <p:nvPr/>
        </p:nvSpPr>
        <p:spPr>
          <a:xfrm>
            <a:off x="381000" y="4710113"/>
            <a:ext cx="4495800" cy="133350"/>
          </a:xfrm>
          <a:prstGeom prst="rect">
            <a:avLst/>
          </a:prstGeom>
          <a:noFill/>
          <a:ln/>
        </p:spPr>
        <p:txBody>
          <a:bodyPr wrap="square" lIns="0" tIns="0" rIns="0" bIns="0" rtlCol="0" anchor="t"/>
          <a:lstStyle/>
          <a:p>
            <a:pPr algn="l" indent="0" marL="0">
              <a:lnSpc>
                <a:spcPts val="998"/>
              </a:lnSpc>
              <a:buNone/>
            </a:pPr>
            <a:r>
              <a:rPr lang="en-US" sz="713" dirty="0">
                <a:solidFill>
                  <a:srgbClr val="606063">
                    <a:alpha val="99000"/>
                  </a:srgbClr>
                </a:solidFill>
                <a:latin typeface="Rethink Sans" pitchFamily="34" charset="0"/>
                <a:ea typeface="Rethink Sans" pitchFamily="34" charset="-122"/>
                <a:cs typeface="Rethink Sans" pitchFamily="34" charset="-120"/>
              </a:rPr>
              <a:t>113457a Speech Interaction | Lars Gerigk (lg107) | Nils Fink (nf056)</a:t>
            </a:r>
            <a:endParaRPr lang="en-US" sz="713"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rcRect l="0" r="0" t="0" b="0"/>
          <a:stretch/>
        </p:blipFill>
        <p:spPr>
          <a:xfrm>
            <a:off x="114300" y="85725"/>
            <a:ext cx="8915400" cy="4967288"/>
          </a:xfrm>
          <a:prstGeom prst="rect">
            <a:avLst/>
          </a:prstGeom>
        </p:spPr>
      </p:pic>
      <p:sp>
        <p:nvSpPr>
          <p:cNvPr id="4" name="Text 0"/>
          <p:cNvSpPr/>
          <p:nvPr/>
        </p:nvSpPr>
        <p:spPr>
          <a:xfrm>
            <a:off x="366713" y="395288"/>
            <a:ext cx="4886325" cy="547688"/>
          </a:xfrm>
          <a:prstGeom prst="rect">
            <a:avLst/>
          </a:prstGeom>
          <a:noFill/>
          <a:ln/>
        </p:spPr>
        <p:txBody>
          <a:bodyPr wrap="square" lIns="0" tIns="0" rIns="0" bIns="0" rtlCol="0" anchor="ctr"/>
          <a:lstStyle/>
          <a:p>
            <a:pPr algn="l" indent="0" marL="0">
              <a:lnSpc>
                <a:spcPts val="4104"/>
              </a:lnSpc>
              <a:buNone/>
            </a:pPr>
            <a:r>
              <a:rPr lang="en-US" sz="3420" b="1" spc="-75" kern="0" dirty="0">
                <a:solidFill>
                  <a:srgbClr val="FFFFFF">
                    <a:alpha val="99000"/>
                  </a:srgbClr>
                </a:solidFill>
                <a:latin typeface="Rethink Sans" pitchFamily="34" charset="0"/>
                <a:ea typeface="Rethink Sans" pitchFamily="34" charset="-122"/>
                <a:cs typeface="Rethink Sans" pitchFamily="34" charset="-120"/>
              </a:rPr>
              <a:t>Implementierung</a:t>
            </a:r>
            <a:endParaRPr lang="en-US" sz="3420" dirty="0"/>
          </a:p>
        </p:txBody>
      </p:sp>
      <p:sp>
        <p:nvSpPr>
          <p:cNvPr id="5" name="Shape 1"/>
          <p:cNvSpPr/>
          <p:nvPr/>
        </p:nvSpPr>
        <p:spPr>
          <a:xfrm rot="15045">
            <a:off x="366713" y="919162"/>
            <a:ext cx="2166958" cy="0"/>
          </a:xfrm>
          <a:prstGeom prst="line">
            <a:avLst/>
          </a:prstGeom>
          <a:noFill/>
          <a:ln w="18097">
            <a:solidFill>
              <a:srgbClr val="41B883"/>
            </a:solidFill>
            <a:prstDash val="solid"/>
          </a:ln>
        </p:spPr>
      </p:sp>
      <p:sp>
        <p:nvSpPr>
          <p:cNvPr id="6" name="Text 2"/>
          <p:cNvSpPr/>
          <p:nvPr/>
        </p:nvSpPr>
        <p:spPr>
          <a:xfrm>
            <a:off x="352425" y="914400"/>
            <a:ext cx="8162925" cy="342900"/>
          </a:xfrm>
          <a:prstGeom prst="rect">
            <a:avLst/>
          </a:prstGeom>
          <a:noFill/>
          <a:ln/>
        </p:spPr>
        <p:txBody>
          <a:bodyPr wrap="square" lIns="0" tIns="0" rIns="0" bIns="0" rtlCol="0" anchor="t"/>
          <a:lstStyle/>
          <a:p>
            <a:pPr algn="l" indent="0" marL="0">
              <a:lnSpc>
                <a:spcPts val="2565"/>
              </a:lnSpc>
              <a:buNone/>
            </a:pPr>
            <a:r>
              <a:rPr lang="en-US" sz="1283" spc="-13" kern="0" dirty="0">
                <a:solidFill>
                  <a:srgbClr val="FBFAFB">
                    <a:alpha val="99000"/>
                  </a:srgbClr>
                </a:solidFill>
                <a:latin typeface="Rethink Sans" pitchFamily="34" charset="0"/>
                <a:ea typeface="Rethink Sans" pitchFamily="34" charset="-122"/>
                <a:cs typeface="Rethink Sans" pitchFamily="34" charset="-120"/>
              </a:rPr>
              <a:t>Entscheidung: Whisper Modell</a:t>
            </a:r>
            <a:endParaRPr lang="en-US" sz="1283" dirty="0"/>
          </a:p>
        </p:txBody>
      </p:sp>
      <p:sp>
        <p:nvSpPr>
          <p:cNvPr id="7" name="Text 3"/>
          <p:cNvSpPr/>
          <p:nvPr/>
        </p:nvSpPr>
        <p:spPr>
          <a:xfrm>
            <a:off x="1090613" y="1928813"/>
            <a:ext cx="3786188" cy="1714500"/>
          </a:xfrm>
          <a:prstGeom prst="rect">
            <a:avLst/>
          </a:prstGeom>
          <a:noFill/>
          <a:ln/>
        </p:spPr>
        <p:txBody>
          <a:bodyPr wrap="square" lIns="0" tIns="0" rIns="0" bIns="0" rtlCol="0" anchor="t"/>
          <a:lstStyle/>
          <a:p>
            <a:pPr algn="l" indent="0" marL="0">
              <a:lnSpc>
                <a:spcPts val="3206"/>
              </a:lnSpc>
              <a:buNone/>
            </a:pPr>
            <a:r>
              <a:rPr lang="en-US" sz="1283" spc="-13" kern="0" dirty="0">
                <a:solidFill>
                  <a:srgbClr val="FBFAFB">
                    <a:alpha val="99000"/>
                  </a:srgbClr>
                </a:solidFill>
                <a:latin typeface="Rethink Sans" pitchFamily="34" charset="0"/>
                <a:ea typeface="Rethink Sans" pitchFamily="34" charset="-122"/>
                <a:cs typeface="Rethink Sans" pitchFamily="34" charset="-120"/>
              </a:rPr>
              <a:t>Open-Source ASR von OpenAI
</a:t>
            </a:r>
            <a:endParaRPr lang="en-US" sz="1283" dirty="0"/>
          </a:p>
          <a:p>
            <a:pPr algn="l" indent="0" marL="0">
              <a:lnSpc>
                <a:spcPts val="3206"/>
              </a:lnSpc>
              <a:buNone/>
            </a:pPr>
            <a:r>
              <a:rPr lang="en-US" sz="1283" spc="-13" kern="0" dirty="0">
                <a:solidFill>
                  <a:srgbClr val="FBFAFB">
                    <a:alpha val="99000"/>
                  </a:srgbClr>
                </a:solidFill>
                <a:latin typeface="Rethink Sans" pitchFamily="34" charset="0"/>
                <a:ea typeface="Rethink Sans" pitchFamily="34" charset="-122"/>
                <a:cs typeface="Rethink Sans" pitchFamily="34" charset="-120"/>
              </a:rPr>
              <a:t>Robust gegenüber Hintergrundrauschen</a:t>
            </a:r>
            <a:endParaRPr lang="en-US" sz="1283" dirty="0"/>
          </a:p>
          <a:p>
            <a:pPr algn="l" indent="0" marL="0">
              <a:lnSpc>
                <a:spcPts val="3206"/>
              </a:lnSpc>
              <a:buNone/>
            </a:pPr>
            <a:r>
              <a:rPr lang="en-US" sz="1283" spc="-13" kern="0" dirty="0">
                <a:solidFill>
                  <a:srgbClr val="FBFAFB">
                    <a:alpha val="99000"/>
                  </a:srgbClr>
                </a:solidFill>
                <a:latin typeface="Rethink Sans" pitchFamily="34" charset="0"/>
                <a:ea typeface="Rethink Sans" pitchFamily="34" charset="-122"/>
                <a:cs typeface="Rethink Sans" pitchFamily="34" charset="-120"/>
              </a:rPr>
              <a:t>Beste Balance Geschwindigkeit/Genauigkeit
</a:t>
            </a:r>
            <a:endParaRPr lang="en-US" sz="1283" dirty="0"/>
          </a:p>
          <a:p>
            <a:pPr algn="l" indent="0" marL="0">
              <a:lnSpc>
                <a:spcPts val="3206"/>
              </a:lnSpc>
              <a:buNone/>
            </a:pPr>
            <a:r>
              <a:rPr lang="en-US" sz="1283" spc="-13" kern="0" dirty="0">
                <a:solidFill>
                  <a:srgbClr val="FBFAFB">
                    <a:alpha val="99000"/>
                  </a:srgbClr>
                </a:solidFill>
                <a:latin typeface="Rethink Sans" pitchFamily="34" charset="0"/>
                <a:ea typeface="Rethink Sans" pitchFamily="34" charset="-122"/>
                <a:cs typeface="Rethink Sans" pitchFamily="34" charset="-120"/>
              </a:rPr>
              <a:t>GPU-beschleunigt auf dedizierter Grafikkarte</a:t>
            </a:r>
            <a:endParaRPr lang="en-US" sz="1283" dirty="0"/>
          </a:p>
        </p:txBody>
      </p:sp>
      <p:sp>
        <p:nvSpPr>
          <p:cNvPr id="8" name="Text 4"/>
          <p:cNvSpPr/>
          <p:nvPr/>
        </p:nvSpPr>
        <p:spPr>
          <a:xfrm>
            <a:off x="495300" y="2014538"/>
            <a:ext cx="280988" cy="280988"/>
          </a:xfrm>
          <a:prstGeom prst="ellipse">
            <a:avLst/>
          </a:prstGeom>
          <a:solidFill>
            <a:srgbClr val="41B883"/>
          </a:solidFill>
          <a:ln/>
        </p:spPr>
        <p:txBody>
          <a:bodyPr wrap="square" rtlCol="0" anchor="ctr"/>
          <a:lstStyle/>
          <a:p>
            <a:pPr indent="0" marL="0">
              <a:buNone/>
            </a:pPr>
            <a:endParaRPr lang="en-US" dirty="0"/>
          </a:p>
        </p:txBody>
      </p:sp>
      <p:sp>
        <p:nvSpPr>
          <p:cNvPr id="9" name="Text 5"/>
          <p:cNvSpPr/>
          <p:nvPr/>
        </p:nvSpPr>
        <p:spPr>
          <a:xfrm>
            <a:off x="495300" y="2433638"/>
            <a:ext cx="280988" cy="280988"/>
          </a:xfrm>
          <a:prstGeom prst="ellipse">
            <a:avLst/>
          </a:prstGeom>
          <a:solidFill>
            <a:srgbClr val="41B883"/>
          </a:solidFill>
          <a:ln/>
        </p:spPr>
        <p:txBody>
          <a:bodyPr wrap="square" rtlCol="0" anchor="ctr"/>
          <a:lstStyle/>
          <a:p>
            <a:pPr indent="0" marL="0">
              <a:buNone/>
            </a:pPr>
            <a:endParaRPr lang="en-US" dirty="0"/>
          </a:p>
        </p:txBody>
      </p:sp>
      <p:sp>
        <p:nvSpPr>
          <p:cNvPr id="10" name="Text 6"/>
          <p:cNvSpPr/>
          <p:nvPr/>
        </p:nvSpPr>
        <p:spPr>
          <a:xfrm>
            <a:off x="495300" y="2852738"/>
            <a:ext cx="280988" cy="280988"/>
          </a:xfrm>
          <a:prstGeom prst="ellipse">
            <a:avLst/>
          </a:prstGeom>
          <a:solidFill>
            <a:srgbClr val="41B883"/>
          </a:solidFill>
          <a:ln/>
        </p:spPr>
        <p:txBody>
          <a:bodyPr wrap="square" rtlCol="0" anchor="ctr"/>
          <a:lstStyle/>
          <a:p>
            <a:pPr indent="0" marL="0">
              <a:buNone/>
            </a:pPr>
            <a:endParaRPr lang="en-US" dirty="0"/>
          </a:p>
        </p:txBody>
      </p:sp>
      <p:pic>
        <p:nvPicPr>
          <p:cNvPr id="11" name="Image 1" descr="preencoded.png">    </p:cNvPr>
          <p:cNvPicPr>
            <a:picLocks noChangeAspect="1"/>
          </p:cNvPicPr>
          <p:nvPr/>
        </p:nvPicPr>
        <p:blipFill>
          <a:blip r:embed="rId2"/>
          <a:srcRect l="0" r="0" t="0" b="0"/>
          <a:stretch/>
        </p:blipFill>
        <p:spPr>
          <a:xfrm>
            <a:off x="540544" y="2057400"/>
            <a:ext cx="200025" cy="200025"/>
          </a:xfrm>
          <a:prstGeom prst="rect">
            <a:avLst/>
          </a:prstGeom>
        </p:spPr>
      </p:pic>
      <p:pic>
        <p:nvPicPr>
          <p:cNvPr id="12" name="Image 2" descr="preencoded.png">    </p:cNvPr>
          <p:cNvPicPr>
            <a:picLocks noChangeAspect="1"/>
          </p:cNvPicPr>
          <p:nvPr/>
        </p:nvPicPr>
        <p:blipFill>
          <a:blip r:embed="rId3"/>
          <a:srcRect l="0" r="0" t="0" b="0"/>
          <a:stretch/>
        </p:blipFill>
        <p:spPr>
          <a:xfrm>
            <a:off x="540544" y="2476500"/>
            <a:ext cx="200025" cy="200025"/>
          </a:xfrm>
          <a:prstGeom prst="rect">
            <a:avLst/>
          </a:prstGeom>
        </p:spPr>
      </p:pic>
      <p:pic>
        <p:nvPicPr>
          <p:cNvPr id="13" name="Image 3" descr="preencoded.png">    </p:cNvPr>
          <p:cNvPicPr>
            <a:picLocks noChangeAspect="1"/>
          </p:cNvPicPr>
          <p:nvPr/>
        </p:nvPicPr>
        <p:blipFill>
          <a:blip r:embed="rId4"/>
          <a:srcRect l="0" r="0" t="0" b="0"/>
          <a:stretch/>
        </p:blipFill>
        <p:spPr>
          <a:xfrm>
            <a:off x="540544" y="2895600"/>
            <a:ext cx="200025" cy="200025"/>
          </a:xfrm>
          <a:prstGeom prst="rect">
            <a:avLst/>
          </a:prstGeom>
        </p:spPr>
      </p:pic>
      <p:sp>
        <p:nvSpPr>
          <p:cNvPr id="14" name="Text 7"/>
          <p:cNvSpPr/>
          <p:nvPr/>
        </p:nvSpPr>
        <p:spPr>
          <a:xfrm>
            <a:off x="500063" y="3290888"/>
            <a:ext cx="280988" cy="280988"/>
          </a:xfrm>
          <a:prstGeom prst="ellipse">
            <a:avLst/>
          </a:prstGeom>
          <a:solidFill>
            <a:srgbClr val="41B883"/>
          </a:solidFill>
          <a:ln/>
        </p:spPr>
        <p:txBody>
          <a:bodyPr wrap="square" rtlCol="0" anchor="ctr"/>
          <a:lstStyle/>
          <a:p>
            <a:pPr indent="0" marL="0">
              <a:buNone/>
            </a:pPr>
            <a:endParaRPr lang="en-US" dirty="0"/>
          </a:p>
        </p:txBody>
      </p:sp>
      <p:sp>
        <p:nvSpPr>
          <p:cNvPr id="15" name="Text 8"/>
          <p:cNvSpPr/>
          <p:nvPr/>
        </p:nvSpPr>
        <p:spPr>
          <a:xfrm>
            <a:off x="381000" y="4710113"/>
            <a:ext cx="4495800" cy="133350"/>
          </a:xfrm>
          <a:prstGeom prst="rect">
            <a:avLst/>
          </a:prstGeom>
          <a:noFill/>
          <a:ln/>
        </p:spPr>
        <p:txBody>
          <a:bodyPr wrap="square" lIns="0" tIns="0" rIns="0" bIns="0" rtlCol="0" anchor="t"/>
          <a:lstStyle/>
          <a:p>
            <a:pPr algn="l" indent="0" marL="0">
              <a:lnSpc>
                <a:spcPts val="998"/>
              </a:lnSpc>
              <a:buNone/>
            </a:pPr>
            <a:r>
              <a:rPr lang="en-US" sz="713" dirty="0">
                <a:solidFill>
                  <a:srgbClr val="606063">
                    <a:alpha val="99000"/>
                  </a:srgbClr>
                </a:solidFill>
                <a:latin typeface="Rethink Sans" pitchFamily="34" charset="0"/>
                <a:ea typeface="Rethink Sans" pitchFamily="34" charset="-122"/>
                <a:cs typeface="Rethink Sans" pitchFamily="34" charset="-120"/>
              </a:rPr>
              <a:t>113457a Speech Interaction | Lars Gerigk (lg107) | Nils Fink (nf056)</a:t>
            </a:r>
            <a:endParaRPr lang="en-US" sz="713" dirty="0"/>
          </a:p>
        </p:txBody>
      </p:sp>
      <p:pic>
        <p:nvPicPr>
          <p:cNvPr id="16" name="Image 4" descr="preencoded.png">    </p:cNvPr>
          <p:cNvPicPr>
            <a:picLocks noChangeAspect="1"/>
          </p:cNvPicPr>
          <p:nvPr/>
        </p:nvPicPr>
        <p:blipFill>
          <a:blip r:embed="rId5"/>
          <a:srcRect l="0" r="0" t="0" b="0"/>
          <a:stretch/>
        </p:blipFill>
        <p:spPr>
          <a:xfrm>
            <a:off x="576263" y="3367088"/>
            <a:ext cx="137517" cy="137517"/>
          </a:xfrm>
          <a:prstGeom prst="rect">
            <a:avLst/>
          </a:prstGeom>
        </p:spPr>
      </p:pic>
      <p:pic>
        <p:nvPicPr>
          <p:cNvPr id="17" name="Image 5" descr="preencoded.png">    </p:cNvPr>
          <p:cNvPicPr>
            <a:picLocks noChangeAspect="1"/>
          </p:cNvPicPr>
          <p:nvPr/>
        </p:nvPicPr>
        <p:blipFill>
          <a:blip r:embed="rId6"/>
          <a:srcRect l="0" r="0" t="0" b="0"/>
          <a:stretch/>
        </p:blipFill>
        <p:spPr>
          <a:xfrm>
            <a:off x="4876800" y="1838325"/>
            <a:ext cx="3781425" cy="189071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3" name="Shape 0"/>
          <p:cNvSpPr/>
          <p:nvPr/>
        </p:nvSpPr>
        <p:spPr>
          <a:xfrm>
            <a:off x="114300" y="85725"/>
            <a:ext cx="8915400" cy="4967288"/>
          </a:xfrm>
          <a:prstGeom prst="roundRect">
            <a:avLst>
              <a:gd name="adj" fmla="val 2209"/>
            </a:avLst>
          </a:prstGeom>
          <a:solidFill>
            <a:srgbClr val="171717"/>
          </a:solidFill>
          <a:ln/>
        </p:spPr>
      </p:sp>
      <p:sp>
        <p:nvSpPr>
          <p:cNvPr id="4" name="Shape 1"/>
          <p:cNvSpPr/>
          <p:nvPr/>
        </p:nvSpPr>
        <p:spPr>
          <a:xfrm>
            <a:off x="4881563" y="857250"/>
            <a:ext cx="3648075" cy="3181350"/>
          </a:xfrm>
          <a:prstGeom prst="roundRect">
            <a:avLst>
              <a:gd name="adj" fmla="val 4599"/>
            </a:avLst>
          </a:prstGeom>
          <a:solidFill>
            <a:srgbClr val="131314"/>
          </a:solidFill>
          <a:ln/>
        </p:spPr>
      </p:sp>
      <p:pic>
        <p:nvPicPr>
          <p:cNvPr id="5" name="Image 0" descr="preencoded.png">    </p:cNvPr>
          <p:cNvPicPr>
            <a:picLocks noChangeAspect="1"/>
          </p:cNvPicPr>
          <p:nvPr/>
        </p:nvPicPr>
        <p:blipFill>
          <a:blip r:embed="rId1"/>
          <a:srcRect l="0" r="0" t="0" b="0"/>
          <a:stretch/>
        </p:blipFill>
        <p:spPr>
          <a:xfrm>
            <a:off x="4957763" y="933450"/>
            <a:ext cx="3495675" cy="1862138"/>
          </a:xfrm>
          <a:prstGeom prst="rect">
            <a:avLst/>
          </a:prstGeom>
        </p:spPr>
      </p:pic>
      <p:sp>
        <p:nvSpPr>
          <p:cNvPr id="6" name="Shape 2"/>
          <p:cNvSpPr/>
          <p:nvPr/>
        </p:nvSpPr>
        <p:spPr>
          <a:xfrm>
            <a:off x="4957763" y="2933700"/>
            <a:ext cx="3495675" cy="1028700"/>
          </a:xfrm>
          <a:prstGeom prst="rect">
            <a:avLst/>
          </a:prstGeom>
          <a:noFill/>
          <a:ln/>
        </p:spPr>
      </p:sp>
      <p:sp>
        <p:nvSpPr>
          <p:cNvPr id="7" name="Text 3"/>
          <p:cNvSpPr/>
          <p:nvPr/>
        </p:nvSpPr>
        <p:spPr>
          <a:xfrm>
            <a:off x="4957763" y="2933700"/>
            <a:ext cx="3495675" cy="1028700"/>
          </a:xfrm>
          <a:prstGeom prst="rect">
            <a:avLst/>
          </a:prstGeom>
          <a:noFill/>
          <a:ln/>
        </p:spPr>
        <p:txBody>
          <a:bodyPr wrap="square" lIns="0" tIns="0" rIns="0" bIns="0" rtlCol="0" anchor="t"/>
          <a:lstStyle/>
          <a:p>
            <a:pPr algn="l" marL="342900" indent="-342900">
              <a:lnSpc>
                <a:spcPts val="1924"/>
              </a:lnSpc>
              <a:buSzPct val="100000"/>
              <a:buChar char="•"/>
            </a:pPr>
            <a:r>
              <a:rPr lang="en-US" sz="1283" spc="-28" kern="0" dirty="0">
                <a:solidFill>
                  <a:srgbClr val="FFFFFF">
                    <a:alpha val="99000"/>
                  </a:srgbClr>
                </a:solidFill>
                <a:latin typeface="DM Sans" pitchFamily="34" charset="0"/>
                <a:ea typeface="DM Sans" pitchFamily="34" charset="-122"/>
                <a:cs typeface="DM Sans" pitchFamily="34" charset="-120"/>
              </a:rPr>
              <a:t>Misst Fehler auf Zeichenebene.
</a:t>
            </a:r>
            <a:endParaRPr lang="en-US" sz="1283" dirty="0"/>
          </a:p>
          <a:p>
            <a:pPr algn="l" marL="342900" indent="-342900">
              <a:lnSpc>
                <a:spcPts val="1924"/>
              </a:lnSpc>
              <a:buSzPct val="100000"/>
              <a:buChar char="•"/>
            </a:pPr>
            <a:r>
              <a:rPr lang="en-US" sz="1283" spc="-28" kern="0" dirty="0">
                <a:solidFill>
                  <a:srgbClr val="FFFFFF">
                    <a:alpha val="99000"/>
                  </a:srgbClr>
                </a:solidFill>
                <a:latin typeface="DM Sans" pitchFamily="34" charset="0"/>
                <a:ea typeface="DM Sans" pitchFamily="34" charset="-122"/>
                <a:cs typeface="DM Sans" pitchFamily="34" charset="-120"/>
              </a:rPr>
              <a:t>Ein teilweise korrekt erkanntes Wort wird weniger stark bestraft</a:t>
            </a:r>
            <a:endParaRPr lang="en-US" sz="1283" dirty="0"/>
          </a:p>
          <a:p>
            <a:pPr algn="l" marL="342900" indent="-342900">
              <a:lnSpc>
                <a:spcPts val="1924"/>
              </a:lnSpc>
              <a:buSzPct val="100000"/>
              <a:buChar char="•"/>
            </a:pPr>
            <a:r>
              <a:rPr lang="en-US" sz="1283" spc="-28" kern="0" dirty="0">
                <a:solidFill>
                  <a:srgbClr val="FFFFFF">
                    <a:alpha val="99000"/>
                  </a:srgbClr>
                </a:solidFill>
                <a:latin typeface="DM Sans" pitchFamily="34" charset="0"/>
                <a:ea typeface="DM Sans" pitchFamily="34" charset="-122"/>
                <a:cs typeface="DM Sans" pitchFamily="34" charset="-120"/>
              </a:rPr>
              <a:t>feingranularere Messung.
</a:t>
            </a:r>
            <a:endParaRPr lang="en-US" sz="1283" dirty="0"/>
          </a:p>
        </p:txBody>
      </p:sp>
      <p:sp>
        <p:nvSpPr>
          <p:cNvPr id="8" name="Shape 4"/>
          <p:cNvSpPr/>
          <p:nvPr/>
        </p:nvSpPr>
        <p:spPr>
          <a:xfrm>
            <a:off x="590550" y="857250"/>
            <a:ext cx="3648075" cy="3695700"/>
          </a:xfrm>
          <a:prstGeom prst="roundRect">
            <a:avLst>
              <a:gd name="adj" fmla="val 4010"/>
            </a:avLst>
          </a:prstGeom>
          <a:solidFill>
            <a:srgbClr val="131314"/>
          </a:solidFill>
          <a:ln/>
        </p:spPr>
      </p:sp>
      <p:pic>
        <p:nvPicPr>
          <p:cNvPr id="9" name="Image 1" descr="preencoded.png">    </p:cNvPr>
          <p:cNvPicPr>
            <a:picLocks noChangeAspect="1"/>
          </p:cNvPicPr>
          <p:nvPr/>
        </p:nvPicPr>
        <p:blipFill>
          <a:blip r:embed="rId2"/>
          <a:srcRect l="0" r="0" t="0" b="0"/>
          <a:stretch/>
        </p:blipFill>
        <p:spPr>
          <a:xfrm>
            <a:off x="666750" y="933450"/>
            <a:ext cx="3495675" cy="1862138"/>
          </a:xfrm>
          <a:prstGeom prst="rect">
            <a:avLst/>
          </a:prstGeom>
        </p:spPr>
      </p:pic>
      <p:sp>
        <p:nvSpPr>
          <p:cNvPr id="10" name="Shape 5"/>
          <p:cNvSpPr/>
          <p:nvPr/>
        </p:nvSpPr>
        <p:spPr>
          <a:xfrm>
            <a:off x="666750" y="2933700"/>
            <a:ext cx="3495675" cy="1543050"/>
          </a:xfrm>
          <a:prstGeom prst="rect">
            <a:avLst/>
          </a:prstGeom>
          <a:noFill/>
          <a:ln/>
        </p:spPr>
      </p:sp>
      <p:sp>
        <p:nvSpPr>
          <p:cNvPr id="11" name="Text 6"/>
          <p:cNvSpPr/>
          <p:nvPr/>
        </p:nvSpPr>
        <p:spPr>
          <a:xfrm>
            <a:off x="666750" y="2933700"/>
            <a:ext cx="3495675" cy="1543050"/>
          </a:xfrm>
          <a:prstGeom prst="rect">
            <a:avLst/>
          </a:prstGeom>
          <a:noFill/>
          <a:ln/>
        </p:spPr>
        <p:txBody>
          <a:bodyPr wrap="square" lIns="0" tIns="0" rIns="0" bIns="0" rtlCol="0" anchor="t"/>
          <a:lstStyle/>
          <a:p>
            <a:pPr algn="l" marL="342900" indent="-342900">
              <a:lnSpc>
                <a:spcPts val="1924"/>
              </a:lnSpc>
              <a:buSzPct val="100000"/>
              <a:buChar char="•"/>
            </a:pPr>
            <a:r>
              <a:rPr lang="en-US" sz="1283" spc="-28" kern="0" dirty="0">
                <a:solidFill>
                  <a:srgbClr val="FFFFFF">
                    <a:alpha val="99000"/>
                  </a:srgbClr>
                </a:solidFill>
                <a:latin typeface="DM Sans" pitchFamily="34" charset="0"/>
                <a:ea typeface="DM Sans" pitchFamily="34" charset="-122"/>
                <a:cs typeface="DM Sans" pitchFamily="34" charset="-120"/>
              </a:rPr>
              <a:t>Misst Fehler auf Wortebene.
</a:t>
            </a:r>
            <a:endParaRPr lang="en-US" sz="1283" dirty="0"/>
          </a:p>
          <a:p>
            <a:pPr algn="l" marL="342900" indent="-342900">
              <a:lnSpc>
                <a:spcPts val="1924"/>
              </a:lnSpc>
              <a:buSzPct val="100000"/>
              <a:buChar char="•"/>
            </a:pPr>
            <a:r>
              <a:rPr lang="en-US" sz="1283" spc="-28" kern="0" dirty="0">
                <a:solidFill>
                  <a:srgbClr val="FFFFFF">
                    <a:alpha val="99000"/>
                  </a:srgbClr>
                </a:solidFill>
                <a:latin typeface="DM Sans" pitchFamily="34" charset="0"/>
                <a:ea typeface="DM Sans" pitchFamily="34" charset="-122"/>
                <a:cs typeface="DM Sans" pitchFamily="34" charset="-120"/>
              </a:rPr>
              <a:t>Ein Wort gilt als Fehler, sobald es</a:t>
            </a:r>
            <a:endParaRPr lang="en-US" sz="1283" dirty="0"/>
          </a:p>
          <a:p>
            <a:pPr algn="l" lvl="1" marL="685800" indent="-342900">
              <a:lnSpc>
                <a:spcPts val="1924"/>
              </a:lnSpc>
              <a:buSzPct val="100000"/>
              <a:buChar char="•"/>
            </a:pPr>
            <a:r>
              <a:rPr lang="en-US" sz="1283" spc="-28" kern="0" dirty="0">
                <a:solidFill>
                  <a:srgbClr val="FFFFFF">
                    <a:alpha val="99000"/>
                  </a:srgbClr>
                </a:solidFill>
                <a:latin typeface="DM Sans" pitchFamily="34" charset="0"/>
                <a:ea typeface="DM Sans" pitchFamily="34" charset="-122"/>
                <a:cs typeface="DM Sans" pitchFamily="34" charset="-120"/>
              </a:rPr>
              <a:t>ersetzt, </a:t>
            </a:r>
            <a:endParaRPr lang="en-US" sz="1283" dirty="0"/>
          </a:p>
          <a:p>
            <a:pPr algn="l" lvl="1" marL="685800" indent="-342900">
              <a:lnSpc>
                <a:spcPts val="1924"/>
              </a:lnSpc>
              <a:buSzPct val="100000"/>
              <a:buChar char="•"/>
            </a:pPr>
            <a:r>
              <a:rPr lang="en-US" sz="1283" spc="-28" kern="0" dirty="0">
                <a:solidFill>
                  <a:srgbClr val="FFFFFF">
                    <a:alpha val="99000"/>
                  </a:srgbClr>
                </a:solidFill>
                <a:latin typeface="DM Sans" pitchFamily="34" charset="0"/>
                <a:ea typeface="DM Sans" pitchFamily="34" charset="-122"/>
                <a:cs typeface="DM Sans" pitchFamily="34" charset="-120"/>
              </a:rPr>
              <a:t>ausgelassen  </a:t>
            </a:r>
            <a:endParaRPr lang="en-US" sz="1283" dirty="0"/>
          </a:p>
          <a:p>
            <a:pPr algn="l" lvl="1" marL="685800" indent="-342900">
              <a:lnSpc>
                <a:spcPts val="1924"/>
              </a:lnSpc>
              <a:buSzPct val="100000"/>
              <a:buChar char="•"/>
            </a:pPr>
            <a:r>
              <a:rPr lang="en-US" sz="1283" spc="-28" kern="0" dirty="0">
                <a:solidFill>
                  <a:srgbClr val="FFFFFF">
                    <a:alpha val="99000"/>
                  </a:srgbClr>
                </a:solidFill>
                <a:latin typeface="DM Sans" pitchFamily="34" charset="0"/>
                <a:ea typeface="DM Sans" pitchFamily="34" charset="-122"/>
                <a:cs typeface="DM Sans" pitchFamily="34" charset="-120"/>
              </a:rPr>
              <a:t>eingefügt wird </a:t>
            </a:r>
            <a:endParaRPr lang="en-US" sz="1283" dirty="0"/>
          </a:p>
          <a:p>
            <a:pPr algn="l" marL="342900" indent="-342900">
              <a:lnSpc>
                <a:spcPts val="1924"/>
              </a:lnSpc>
              <a:buSzPct val="100000"/>
              <a:buChar char="•"/>
            </a:pPr>
            <a:r>
              <a:rPr lang="en-US" sz="1283" spc="-28" kern="0" dirty="0">
                <a:solidFill>
                  <a:srgbClr val="FFFFFF">
                    <a:alpha val="99000"/>
                  </a:srgbClr>
                </a:solidFill>
                <a:latin typeface="DM Sans" pitchFamily="34" charset="0"/>
                <a:ea typeface="DM Sans" pitchFamily="34" charset="-122"/>
                <a:cs typeface="DM Sans" pitchFamily="34" charset="-120"/>
              </a:rPr>
              <a:t> unabhängig davon, wie ähnlich es ist.
</a:t>
            </a:r>
            <a:endParaRPr lang="en-US" sz="1283" dirty="0"/>
          </a:p>
        </p:txBody>
      </p:sp>
      <p:sp>
        <p:nvSpPr>
          <p:cNvPr id="12" name="Text 7"/>
          <p:cNvSpPr/>
          <p:nvPr/>
        </p:nvSpPr>
        <p:spPr>
          <a:xfrm>
            <a:off x="366713" y="300038"/>
            <a:ext cx="4886325" cy="547688"/>
          </a:xfrm>
          <a:prstGeom prst="rect">
            <a:avLst/>
          </a:prstGeom>
          <a:noFill/>
          <a:ln/>
        </p:spPr>
        <p:txBody>
          <a:bodyPr wrap="square" lIns="0" tIns="0" rIns="0" bIns="0" rtlCol="0" anchor="ctr"/>
          <a:lstStyle/>
          <a:p>
            <a:pPr algn="l" indent="0" marL="0">
              <a:lnSpc>
                <a:spcPts val="4104"/>
              </a:lnSpc>
              <a:buNone/>
            </a:pPr>
            <a:r>
              <a:rPr lang="en-US" sz="3420" b="1" spc="-75" kern="0" dirty="0">
                <a:solidFill>
                  <a:srgbClr val="FFFFFF">
                    <a:alpha val="99000"/>
                  </a:srgbClr>
                </a:solidFill>
                <a:latin typeface="Rethink Sans" pitchFamily="34" charset="0"/>
                <a:ea typeface="Rethink Sans" pitchFamily="34" charset="-122"/>
                <a:cs typeface="Rethink Sans" pitchFamily="34" charset="-120"/>
              </a:rPr>
              <a:t>Bewertungsmetriken</a:t>
            </a:r>
            <a:endParaRPr lang="en-US" sz="3420" dirty="0"/>
          </a:p>
        </p:txBody>
      </p:sp>
      <p:sp>
        <p:nvSpPr>
          <p:cNvPr id="13" name="Text 8"/>
          <p:cNvSpPr/>
          <p:nvPr/>
        </p:nvSpPr>
        <p:spPr>
          <a:xfrm>
            <a:off x="381000" y="4710113"/>
            <a:ext cx="4495800" cy="133350"/>
          </a:xfrm>
          <a:prstGeom prst="rect">
            <a:avLst/>
          </a:prstGeom>
          <a:noFill/>
          <a:ln/>
        </p:spPr>
        <p:txBody>
          <a:bodyPr wrap="square" lIns="0" tIns="0" rIns="0" bIns="0" rtlCol="0" anchor="t"/>
          <a:lstStyle/>
          <a:p>
            <a:pPr algn="l" indent="0" marL="0">
              <a:lnSpc>
                <a:spcPts val="998"/>
              </a:lnSpc>
              <a:buNone/>
            </a:pPr>
            <a:r>
              <a:rPr lang="en-US" sz="713" dirty="0">
                <a:solidFill>
                  <a:srgbClr val="606063">
                    <a:alpha val="99000"/>
                  </a:srgbClr>
                </a:solidFill>
                <a:latin typeface="Rethink Sans" pitchFamily="34" charset="0"/>
                <a:ea typeface="Rethink Sans" pitchFamily="34" charset="-122"/>
                <a:cs typeface="Rethink Sans" pitchFamily="34" charset="-120"/>
              </a:rPr>
              <a:t>113457a Speech Interaction | Lars Gerigk (lg107) | Nils Fink (nf056)</a:t>
            </a:r>
            <a:endParaRPr lang="en-US" sz="713"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sp>
        <p:nvSpPr>
          <p:cNvPr id="3" name="Shape 0"/>
          <p:cNvSpPr/>
          <p:nvPr/>
        </p:nvSpPr>
        <p:spPr>
          <a:xfrm>
            <a:off x="114300" y="85725"/>
            <a:ext cx="8915400" cy="4967288"/>
          </a:xfrm>
          <a:prstGeom prst="roundRect">
            <a:avLst>
              <a:gd name="adj" fmla="val 2209"/>
            </a:avLst>
          </a:prstGeom>
          <a:solidFill>
            <a:srgbClr val="171717"/>
          </a:solidFill>
          <a:ln/>
        </p:spPr>
      </p:sp>
      <p:pic>
        <p:nvPicPr>
          <p:cNvPr id="4" name="Image 0" descr="preencoded.png">    </p:cNvPr>
          <p:cNvPicPr>
            <a:picLocks noChangeAspect="1"/>
          </p:cNvPicPr>
          <p:nvPr/>
        </p:nvPicPr>
        <p:blipFill>
          <a:blip r:embed="rId1"/>
          <a:srcRect l="0" r="0" t="0" b="0"/>
          <a:stretch/>
        </p:blipFill>
        <p:spPr>
          <a:xfrm>
            <a:off x="495300" y="652463"/>
            <a:ext cx="2476500" cy="547688"/>
          </a:xfrm>
          <a:prstGeom prst="rect">
            <a:avLst/>
          </a:prstGeom>
        </p:spPr>
      </p:pic>
      <p:pic>
        <p:nvPicPr>
          <p:cNvPr id="5" name="Image 1" descr="preencoded.png">    </p:cNvPr>
          <p:cNvPicPr>
            <a:picLocks noChangeAspect="1"/>
          </p:cNvPicPr>
          <p:nvPr/>
        </p:nvPicPr>
        <p:blipFill>
          <a:blip r:embed="rId2"/>
          <a:srcRect l="0" r="0" t="0" b="0"/>
          <a:stretch/>
        </p:blipFill>
        <p:spPr>
          <a:xfrm>
            <a:off x="4752975" y="471488"/>
            <a:ext cx="3362325" cy="2100263"/>
          </a:xfrm>
          <a:prstGeom prst="rect">
            <a:avLst/>
          </a:prstGeom>
        </p:spPr>
      </p:pic>
      <p:pic>
        <p:nvPicPr>
          <p:cNvPr id="6" name="Image 2" descr="preencoded.png">    </p:cNvPr>
          <p:cNvPicPr>
            <a:picLocks noChangeAspect="1"/>
          </p:cNvPicPr>
          <p:nvPr/>
        </p:nvPicPr>
        <p:blipFill>
          <a:blip r:embed="rId3"/>
          <a:srcRect l="0" r="0" t="0" b="0"/>
          <a:stretch/>
        </p:blipFill>
        <p:spPr>
          <a:xfrm>
            <a:off x="4752975" y="2667000"/>
            <a:ext cx="3362325" cy="2100263"/>
          </a:xfrm>
          <a:prstGeom prst="rect">
            <a:avLst/>
          </a:prstGeom>
        </p:spPr>
      </p:pic>
      <p:sp>
        <p:nvSpPr>
          <p:cNvPr id="7" name="Text 1"/>
          <p:cNvSpPr/>
          <p:nvPr/>
        </p:nvSpPr>
        <p:spPr>
          <a:xfrm>
            <a:off x="381000" y="4710113"/>
            <a:ext cx="4495800" cy="133350"/>
          </a:xfrm>
          <a:prstGeom prst="rect">
            <a:avLst/>
          </a:prstGeom>
          <a:noFill/>
          <a:ln/>
        </p:spPr>
        <p:txBody>
          <a:bodyPr wrap="square" lIns="0" tIns="0" rIns="0" bIns="0" rtlCol="0" anchor="t"/>
          <a:lstStyle/>
          <a:p>
            <a:pPr algn="l" indent="0" marL="0">
              <a:lnSpc>
                <a:spcPts val="998"/>
              </a:lnSpc>
              <a:buNone/>
            </a:pPr>
            <a:r>
              <a:rPr lang="en-US" sz="713" dirty="0">
                <a:solidFill>
                  <a:srgbClr val="606063">
                    <a:alpha val="99000"/>
                  </a:srgbClr>
                </a:solidFill>
                <a:latin typeface="Rethink Sans" pitchFamily="34" charset="0"/>
                <a:ea typeface="Rethink Sans" pitchFamily="34" charset="-122"/>
                <a:cs typeface="Rethink Sans" pitchFamily="34" charset="-120"/>
              </a:rPr>
              <a:t>113457a Speech Interaction | Lars Gerigk (lg107) | Nils Fink (nf056)</a:t>
            </a:r>
            <a:endParaRPr lang="en-US" sz="713" dirty="0"/>
          </a:p>
        </p:txBody>
      </p:sp>
      <p:sp>
        <p:nvSpPr>
          <p:cNvPr id="8" name="Text 2"/>
          <p:cNvSpPr/>
          <p:nvPr/>
        </p:nvSpPr>
        <p:spPr>
          <a:xfrm>
            <a:off x="366713" y="395288"/>
            <a:ext cx="4886325" cy="547688"/>
          </a:xfrm>
          <a:prstGeom prst="rect">
            <a:avLst/>
          </a:prstGeom>
          <a:noFill/>
          <a:ln/>
        </p:spPr>
        <p:txBody>
          <a:bodyPr wrap="square" lIns="0" tIns="0" rIns="0" bIns="0" rtlCol="0" anchor="ctr"/>
          <a:lstStyle/>
          <a:p>
            <a:pPr algn="l" indent="0" marL="0">
              <a:lnSpc>
                <a:spcPts val="4104"/>
              </a:lnSpc>
              <a:buNone/>
            </a:pPr>
            <a:r>
              <a:rPr lang="en-US" sz="3420" b="1" spc="-75" kern="0" dirty="0">
                <a:solidFill>
                  <a:srgbClr val="FFFFFF">
                    <a:alpha val="99000"/>
                  </a:srgbClr>
                </a:solidFill>
                <a:latin typeface="Rethink Sans" pitchFamily="34" charset="0"/>
                <a:ea typeface="Rethink Sans" pitchFamily="34" charset="-122"/>
                <a:cs typeface="Rethink Sans" pitchFamily="34" charset="-120"/>
              </a:rPr>
              <a:t>Auswertung</a:t>
            </a:r>
            <a:endParaRPr lang="en-US" sz="3420" dirty="0"/>
          </a:p>
        </p:txBody>
      </p:sp>
      <p:sp>
        <p:nvSpPr>
          <p:cNvPr id="9" name="Shape 3"/>
          <p:cNvSpPr/>
          <p:nvPr/>
        </p:nvSpPr>
        <p:spPr>
          <a:xfrm rot="15045">
            <a:off x="366713" y="919162"/>
            <a:ext cx="2166958" cy="0"/>
          </a:xfrm>
          <a:prstGeom prst="line">
            <a:avLst/>
          </a:prstGeom>
          <a:noFill/>
          <a:ln w="18097">
            <a:solidFill>
              <a:srgbClr val="41B883"/>
            </a:solidFill>
            <a:prstDash val="solid"/>
          </a:ln>
        </p:spPr>
      </p:sp>
      <p:sp>
        <p:nvSpPr>
          <p:cNvPr id="10" name="Text 4"/>
          <p:cNvSpPr/>
          <p:nvPr/>
        </p:nvSpPr>
        <p:spPr>
          <a:xfrm>
            <a:off x="352425" y="914400"/>
            <a:ext cx="8162925" cy="342900"/>
          </a:xfrm>
          <a:prstGeom prst="rect">
            <a:avLst/>
          </a:prstGeom>
          <a:noFill/>
          <a:ln/>
        </p:spPr>
        <p:txBody>
          <a:bodyPr wrap="square" lIns="0" tIns="0" rIns="0" bIns="0" rtlCol="0" anchor="t"/>
          <a:lstStyle/>
          <a:p>
            <a:pPr algn="l" indent="0" marL="0">
              <a:lnSpc>
                <a:spcPts val="2565"/>
              </a:lnSpc>
              <a:buNone/>
            </a:pPr>
            <a:r>
              <a:rPr lang="en-US" sz="1283" spc="-13" kern="0" dirty="0">
                <a:solidFill>
                  <a:srgbClr val="FBFAFB">
                    <a:alpha val="99000"/>
                  </a:srgbClr>
                </a:solidFill>
                <a:latin typeface="Rethink Sans" pitchFamily="34" charset="0"/>
                <a:ea typeface="Rethink Sans" pitchFamily="34" charset="-122"/>
                <a:cs typeface="Rethink Sans" pitchFamily="34" charset="-120"/>
              </a:rPr>
              <a:t>Rauschtypen im Vergleich</a:t>
            </a:r>
            <a:endParaRPr lang="en-US" sz="1283" dirty="0"/>
          </a:p>
        </p:txBody>
      </p:sp>
      <p:sp>
        <p:nvSpPr>
          <p:cNvPr id="11" name="Text 5"/>
          <p:cNvSpPr/>
          <p:nvPr/>
        </p:nvSpPr>
        <p:spPr>
          <a:xfrm>
            <a:off x="381000" y="1562100"/>
            <a:ext cx="8162925" cy="342900"/>
          </a:xfrm>
          <a:prstGeom prst="rect">
            <a:avLst/>
          </a:prstGeom>
          <a:noFill/>
          <a:ln/>
        </p:spPr>
        <p:txBody>
          <a:bodyPr wrap="square" lIns="0" tIns="0" rIns="0" bIns="0" rtlCol="0" anchor="t"/>
          <a:lstStyle/>
          <a:p>
            <a:pPr algn="l" indent="0" marL="0">
              <a:lnSpc>
                <a:spcPts val="2565"/>
              </a:lnSpc>
              <a:buNone/>
            </a:pPr>
            <a:r>
              <a:rPr lang="en-US" sz="1283" b="1" spc="-13" kern="0" dirty="0">
                <a:solidFill>
                  <a:srgbClr val="FBFAFB">
                    <a:alpha val="99000"/>
                  </a:srgbClr>
                </a:solidFill>
                <a:latin typeface="Rethink Sans" pitchFamily="34" charset="0"/>
                <a:ea typeface="Rethink Sans" pitchFamily="34" charset="-122"/>
                <a:cs typeface="Rethink Sans" pitchFamily="34" charset="-120"/>
              </a:rPr>
              <a:t>Kernbefund
</a:t>
            </a:r>
            <a:endParaRPr lang="en-US" sz="1283" dirty="0"/>
          </a:p>
        </p:txBody>
      </p:sp>
      <p:sp>
        <p:nvSpPr>
          <p:cNvPr id="12" name="Text 6"/>
          <p:cNvSpPr/>
          <p:nvPr/>
        </p:nvSpPr>
        <p:spPr>
          <a:xfrm>
            <a:off x="381000" y="1876425"/>
            <a:ext cx="2909888" cy="1028700"/>
          </a:xfrm>
          <a:prstGeom prst="rect">
            <a:avLst/>
          </a:prstGeom>
          <a:noFill/>
          <a:ln/>
        </p:spPr>
        <p:txBody>
          <a:bodyPr wrap="square" lIns="0" tIns="0" rIns="0" bIns="0" rtlCol="0" anchor="t"/>
          <a:lstStyle/>
          <a:p>
            <a:pPr algn="l" indent="0" marL="0">
              <a:lnSpc>
                <a:spcPts val="2565"/>
              </a:lnSpc>
              <a:buNone/>
            </a:pPr>
            <a:r>
              <a:rPr lang="en-US" sz="1283" spc="-13" kern="0" dirty="0">
                <a:solidFill>
                  <a:srgbClr val="FBFAFB">
                    <a:alpha val="99000"/>
                  </a:srgbClr>
                </a:solidFill>
                <a:latin typeface="Rethink Sans" pitchFamily="34" charset="0"/>
                <a:ea typeface="Rethink Sans" pitchFamily="34" charset="-122"/>
                <a:cs typeface="Rethink Sans" pitchFamily="34" charset="-120"/>
              </a:rPr>
              <a:t>Ab 10–15 dB SNR konvergieren alle drei Rauschtypen – der Typ spielt dann kaum noch eine Rolle.
</a:t>
            </a:r>
            <a:endParaRPr lang="en-US" sz="1283"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3" name="Shape 0"/>
          <p:cNvSpPr/>
          <p:nvPr/>
        </p:nvSpPr>
        <p:spPr>
          <a:xfrm>
            <a:off x="114300" y="85725"/>
            <a:ext cx="8915400" cy="4967288"/>
          </a:xfrm>
          <a:prstGeom prst="roundRect">
            <a:avLst>
              <a:gd name="adj" fmla="val 2209"/>
            </a:avLst>
          </a:prstGeom>
          <a:solidFill>
            <a:srgbClr val="171717"/>
          </a:solidFill>
          <a:ln/>
        </p:spPr>
      </p:sp>
      <p:pic>
        <p:nvPicPr>
          <p:cNvPr id="4" name="Image 0" descr="preencoded.png">    </p:cNvPr>
          <p:cNvPicPr>
            <a:picLocks noChangeAspect="1"/>
          </p:cNvPicPr>
          <p:nvPr/>
        </p:nvPicPr>
        <p:blipFill>
          <a:blip r:embed="rId1"/>
          <a:srcRect l="0" r="0" t="0" b="0"/>
          <a:stretch/>
        </p:blipFill>
        <p:spPr>
          <a:xfrm>
            <a:off x="495300" y="652463"/>
            <a:ext cx="2476500" cy="547688"/>
          </a:xfrm>
          <a:prstGeom prst="rect">
            <a:avLst/>
          </a:prstGeom>
        </p:spPr>
      </p:pic>
      <p:pic>
        <p:nvPicPr>
          <p:cNvPr id="5" name="Image 1" descr="preencoded.png">    </p:cNvPr>
          <p:cNvPicPr>
            <a:picLocks noChangeAspect="1"/>
          </p:cNvPicPr>
          <p:nvPr/>
        </p:nvPicPr>
        <p:blipFill>
          <a:blip r:embed="rId2"/>
          <a:srcRect l="0" r="0" t="0" b="0"/>
          <a:stretch/>
        </p:blipFill>
        <p:spPr>
          <a:xfrm>
            <a:off x="495300" y="1905000"/>
            <a:ext cx="2838450" cy="2357438"/>
          </a:xfrm>
          <a:prstGeom prst="rect">
            <a:avLst/>
          </a:prstGeom>
        </p:spPr>
      </p:pic>
      <p:sp>
        <p:nvSpPr>
          <p:cNvPr id="6" name="Text 1"/>
          <p:cNvSpPr/>
          <p:nvPr/>
        </p:nvSpPr>
        <p:spPr>
          <a:xfrm>
            <a:off x="381000" y="4710113"/>
            <a:ext cx="4495800" cy="133350"/>
          </a:xfrm>
          <a:prstGeom prst="rect">
            <a:avLst/>
          </a:prstGeom>
          <a:noFill/>
          <a:ln/>
        </p:spPr>
        <p:txBody>
          <a:bodyPr wrap="square" lIns="0" tIns="0" rIns="0" bIns="0" rtlCol="0" anchor="t"/>
          <a:lstStyle/>
          <a:p>
            <a:pPr algn="l" indent="0" marL="0">
              <a:lnSpc>
                <a:spcPts val="998"/>
              </a:lnSpc>
              <a:buNone/>
            </a:pPr>
            <a:r>
              <a:rPr lang="en-US" sz="713" dirty="0">
                <a:solidFill>
                  <a:srgbClr val="606063">
                    <a:alpha val="99000"/>
                  </a:srgbClr>
                </a:solidFill>
                <a:latin typeface="Rethink Sans" pitchFamily="34" charset="0"/>
                <a:ea typeface="Rethink Sans" pitchFamily="34" charset="-122"/>
                <a:cs typeface="Rethink Sans" pitchFamily="34" charset="-120"/>
              </a:rPr>
              <a:t>113457a Speech Interaction | Lars Gerigk (lg107) | Nils Fink (nf056)</a:t>
            </a:r>
            <a:endParaRPr lang="en-US" sz="713" dirty="0"/>
          </a:p>
        </p:txBody>
      </p:sp>
      <p:sp>
        <p:nvSpPr>
          <p:cNvPr id="7" name="Text 2"/>
          <p:cNvSpPr/>
          <p:nvPr/>
        </p:nvSpPr>
        <p:spPr>
          <a:xfrm>
            <a:off x="366713" y="395288"/>
            <a:ext cx="4886325" cy="547688"/>
          </a:xfrm>
          <a:prstGeom prst="rect">
            <a:avLst/>
          </a:prstGeom>
          <a:noFill/>
          <a:ln/>
        </p:spPr>
        <p:txBody>
          <a:bodyPr wrap="square" lIns="0" tIns="0" rIns="0" bIns="0" rtlCol="0" anchor="ctr"/>
          <a:lstStyle/>
          <a:p>
            <a:pPr algn="l" indent="0" marL="0">
              <a:lnSpc>
                <a:spcPts val="4104"/>
              </a:lnSpc>
              <a:buNone/>
            </a:pPr>
            <a:r>
              <a:rPr lang="en-US" sz="3420" b="1" spc="-75" kern="0" dirty="0">
                <a:solidFill>
                  <a:srgbClr val="FFFFFF">
                    <a:alpha val="99000"/>
                  </a:srgbClr>
                </a:solidFill>
                <a:latin typeface="Rethink Sans" pitchFamily="34" charset="0"/>
                <a:ea typeface="Rethink Sans" pitchFamily="34" charset="-122"/>
                <a:cs typeface="Rethink Sans" pitchFamily="34" charset="-120"/>
              </a:rPr>
              <a:t>Auswertung</a:t>
            </a:r>
            <a:endParaRPr lang="en-US" sz="3420" dirty="0"/>
          </a:p>
        </p:txBody>
      </p:sp>
      <p:sp>
        <p:nvSpPr>
          <p:cNvPr id="8" name="Shape 3"/>
          <p:cNvSpPr/>
          <p:nvPr/>
        </p:nvSpPr>
        <p:spPr>
          <a:xfrm rot="15045">
            <a:off x="366713" y="919162"/>
            <a:ext cx="2166958" cy="0"/>
          </a:xfrm>
          <a:prstGeom prst="line">
            <a:avLst/>
          </a:prstGeom>
          <a:noFill/>
          <a:ln w="18097">
            <a:solidFill>
              <a:srgbClr val="41B883"/>
            </a:solidFill>
            <a:prstDash val="solid"/>
          </a:ln>
        </p:spPr>
      </p:sp>
      <p:sp>
        <p:nvSpPr>
          <p:cNvPr id="9" name="Text 4"/>
          <p:cNvSpPr/>
          <p:nvPr/>
        </p:nvSpPr>
        <p:spPr>
          <a:xfrm>
            <a:off x="352425" y="914400"/>
            <a:ext cx="8162925" cy="342900"/>
          </a:xfrm>
          <a:prstGeom prst="rect">
            <a:avLst/>
          </a:prstGeom>
          <a:noFill/>
          <a:ln/>
        </p:spPr>
        <p:txBody>
          <a:bodyPr wrap="square" lIns="0" tIns="0" rIns="0" bIns="0" rtlCol="0" anchor="t"/>
          <a:lstStyle/>
          <a:p>
            <a:pPr algn="l" indent="0" marL="0">
              <a:lnSpc>
                <a:spcPts val="2565"/>
              </a:lnSpc>
              <a:buNone/>
            </a:pPr>
            <a:r>
              <a:rPr lang="en-US" sz="1283" spc="-13" kern="0" dirty="0">
                <a:solidFill>
                  <a:srgbClr val="FBFAFB">
                    <a:alpha val="99000"/>
                  </a:srgbClr>
                </a:solidFill>
                <a:latin typeface="Rethink Sans" pitchFamily="34" charset="0"/>
                <a:ea typeface="Rethink Sans" pitchFamily="34" charset="-122"/>
                <a:cs typeface="Rethink Sans" pitchFamily="34" charset="-120"/>
              </a:rPr>
              <a:t>Stimmen &amp; Geschlecht
</a:t>
            </a:r>
            <a:endParaRPr lang="en-US" sz="1283" dirty="0"/>
          </a:p>
        </p:txBody>
      </p:sp>
      <p:sp>
        <p:nvSpPr>
          <p:cNvPr id="10" name="Text 5"/>
          <p:cNvSpPr/>
          <p:nvPr/>
        </p:nvSpPr>
        <p:spPr>
          <a:xfrm>
            <a:off x="381000" y="1562100"/>
            <a:ext cx="8162925" cy="342900"/>
          </a:xfrm>
          <a:prstGeom prst="rect">
            <a:avLst/>
          </a:prstGeom>
          <a:noFill/>
          <a:ln/>
        </p:spPr>
        <p:txBody>
          <a:bodyPr wrap="square" lIns="0" tIns="0" rIns="0" bIns="0" rtlCol="0" anchor="t"/>
          <a:lstStyle/>
          <a:p>
            <a:pPr algn="l" indent="0" marL="0">
              <a:lnSpc>
                <a:spcPts val="2565"/>
              </a:lnSpc>
              <a:buNone/>
            </a:pPr>
            <a:r>
              <a:rPr lang="en-US" sz="1283" spc="-13" kern="0" dirty="0">
                <a:solidFill>
                  <a:srgbClr val="FBFAFB">
                    <a:alpha val="99000"/>
                  </a:srgbClr>
                </a:solidFill>
                <a:latin typeface="Rethink Sans" pitchFamily="34" charset="0"/>
                <a:ea typeface="Rethink Sans" pitchFamily="34" charset="-122"/>
                <a:cs typeface="Rethink Sans" pitchFamily="34" charset="-120"/>
              </a:rPr>
              <a:t>0 dB White Noise</a:t>
            </a:r>
            <a:endParaRPr lang="en-US" sz="1283" dirty="0"/>
          </a:p>
        </p:txBody>
      </p:sp>
      <p:pic>
        <p:nvPicPr>
          <p:cNvPr id="11" name="Image 2" descr="preencoded.png">    </p:cNvPr>
          <p:cNvPicPr>
            <a:picLocks noChangeAspect="1"/>
          </p:cNvPicPr>
          <p:nvPr/>
        </p:nvPicPr>
        <p:blipFill>
          <a:blip r:embed="rId3"/>
          <a:srcRect l="0" r="0" t="0" b="0"/>
          <a:stretch/>
        </p:blipFill>
        <p:spPr>
          <a:xfrm>
            <a:off x="3567113" y="1362075"/>
            <a:ext cx="5272088" cy="1566863"/>
          </a:xfrm>
          <a:prstGeom prst="rect">
            <a:avLst/>
          </a:prstGeom>
        </p:spPr>
      </p:pic>
      <p:pic>
        <p:nvPicPr>
          <p:cNvPr id="12" name="Image 3" descr="preencoded.png">    </p:cNvPr>
          <p:cNvPicPr>
            <a:picLocks noChangeAspect="1"/>
          </p:cNvPicPr>
          <p:nvPr/>
        </p:nvPicPr>
        <p:blipFill>
          <a:blip r:embed="rId4"/>
          <a:srcRect l="0" r="0" t="0" b="0"/>
          <a:stretch/>
        </p:blipFill>
        <p:spPr>
          <a:xfrm>
            <a:off x="3567113" y="3033713"/>
            <a:ext cx="5272088" cy="1566863"/>
          </a:xfrm>
          <a:prstGeom prst="rect">
            <a:avLst/>
          </a:prstGeom>
        </p:spPr>
      </p:pic>
      <p:sp>
        <p:nvSpPr>
          <p:cNvPr id="13" name="Text 6"/>
          <p:cNvSpPr/>
          <p:nvPr/>
        </p:nvSpPr>
        <p:spPr>
          <a:xfrm>
            <a:off x="3895725" y="1571625"/>
            <a:ext cx="3233738" cy="1028700"/>
          </a:xfrm>
          <a:prstGeom prst="rect">
            <a:avLst/>
          </a:prstGeom>
          <a:noFill/>
          <a:ln/>
        </p:spPr>
        <p:txBody>
          <a:bodyPr wrap="square" lIns="0" tIns="0" rIns="0" bIns="0" rtlCol="0" anchor="t"/>
          <a:lstStyle/>
          <a:p>
            <a:pPr algn="l" indent="0" marL="0">
              <a:lnSpc>
                <a:spcPts val="2565"/>
              </a:lnSpc>
              <a:buNone/>
            </a:pPr>
            <a:r>
              <a:rPr lang="en-US" sz="1283" spc="-26" kern="0" dirty="0">
                <a:solidFill>
                  <a:srgbClr val="FFFFFF">
                    <a:alpha val="99000"/>
                  </a:srgbClr>
                </a:solidFill>
                <a:latin typeface="Inter" pitchFamily="34" charset="0"/>
                <a:ea typeface="Inter" pitchFamily="34" charset="-122"/>
                <a:cs typeface="Inter" pitchFamily="34" charset="-120"/>
              </a:rPr>
              <a:t>amy · kristin · lessac
</a:t>
            </a:r>
            <a:endParaRPr lang="en-US" sz="1283" dirty="0"/>
          </a:p>
          <a:p>
            <a:pPr algn="l" indent="0" marL="0">
              <a:lnSpc>
                <a:spcPts val="2565"/>
              </a:lnSpc>
              <a:buNone/>
            </a:pPr>
            <a:r>
              <a:rPr lang="en-US" sz="1283" spc="-26" kern="0" dirty="0">
                <a:solidFill>
                  <a:srgbClr val="FFFFFF">
                    <a:alpha val="99000"/>
                  </a:srgbClr>
                </a:solidFill>
                <a:latin typeface="Inter" pitchFamily="34" charset="0"/>
                <a:ea typeface="Inter" pitchFamily="34" charset="-122"/>
                <a:cs typeface="Inter" pitchFamily="34" charset="-120"/>
              </a:rPr>
              <a:t>Plätze 1, 3, 5
</a:t>
            </a:r>
            <a:endParaRPr lang="en-US" sz="1283" dirty="0"/>
          </a:p>
          <a:p>
            <a:pPr algn="l" indent="0" marL="0">
              <a:lnSpc>
                <a:spcPts val="2565"/>
              </a:lnSpc>
              <a:buNone/>
            </a:pPr>
            <a:r>
              <a:rPr lang="en-US" sz="1283" spc="-26" kern="0" dirty="0">
                <a:solidFill>
                  <a:srgbClr val="FFFFFF">
                    <a:alpha val="99000"/>
                  </a:srgbClr>
                </a:solidFill>
                <a:latin typeface="Inter" pitchFamily="34" charset="0"/>
                <a:ea typeface="Inter" pitchFamily="34" charset="-122"/>
                <a:cs typeface="Inter" pitchFamily="34" charset="-120"/>
              </a:rPr>
              <a:t>Ø WER: ~20,5 % (0 dB)
</a:t>
            </a:r>
            <a:endParaRPr lang="en-US" sz="1283" dirty="0"/>
          </a:p>
        </p:txBody>
      </p:sp>
      <p:sp>
        <p:nvSpPr>
          <p:cNvPr id="14" name="Text 7"/>
          <p:cNvSpPr/>
          <p:nvPr/>
        </p:nvSpPr>
        <p:spPr>
          <a:xfrm>
            <a:off x="3895725" y="3257550"/>
            <a:ext cx="3233738" cy="1028700"/>
          </a:xfrm>
          <a:prstGeom prst="rect">
            <a:avLst/>
          </a:prstGeom>
          <a:noFill/>
          <a:ln/>
        </p:spPr>
        <p:txBody>
          <a:bodyPr wrap="square" lIns="0" tIns="0" rIns="0" bIns="0" rtlCol="0" anchor="t"/>
          <a:lstStyle/>
          <a:p>
            <a:pPr algn="l" indent="0" marL="0">
              <a:lnSpc>
                <a:spcPts val="2565"/>
              </a:lnSpc>
              <a:buNone/>
            </a:pPr>
            <a:r>
              <a:rPr lang="en-US" sz="1283" spc="-26" kern="0" dirty="0">
                <a:solidFill>
                  <a:srgbClr val="FFFFFF">
                    <a:alpha val="99000"/>
                  </a:srgbClr>
                </a:solidFill>
                <a:latin typeface="Inter" pitchFamily="34" charset="0"/>
                <a:ea typeface="Inter" pitchFamily="34" charset="-122"/>
                <a:cs typeface="Inter" pitchFamily="34" charset="-120"/>
              </a:rPr>
              <a:t>ryan · joe · danny
</a:t>
            </a:r>
            <a:endParaRPr lang="en-US" sz="1283" dirty="0"/>
          </a:p>
          <a:p>
            <a:pPr algn="l" indent="0" marL="0">
              <a:lnSpc>
                <a:spcPts val="2565"/>
              </a:lnSpc>
              <a:buNone/>
            </a:pPr>
            <a:r>
              <a:rPr lang="en-US" sz="1283" spc="-26" kern="0" dirty="0">
                <a:solidFill>
                  <a:srgbClr val="FFFFFF">
                    <a:alpha val="99000"/>
                  </a:srgbClr>
                </a:solidFill>
                <a:latin typeface="Inter" pitchFamily="34" charset="0"/>
                <a:ea typeface="Inter" pitchFamily="34" charset="-122"/>
                <a:cs typeface="Inter" pitchFamily="34" charset="-120"/>
              </a:rPr>
              <a:t>Plätze 2, 4, 6
</a:t>
            </a:r>
            <a:endParaRPr lang="en-US" sz="1283" dirty="0"/>
          </a:p>
          <a:p>
            <a:pPr algn="l" indent="0" marL="0">
              <a:lnSpc>
                <a:spcPts val="2565"/>
              </a:lnSpc>
              <a:buNone/>
            </a:pPr>
            <a:r>
              <a:rPr lang="en-US" sz="1283" spc="-26" kern="0" dirty="0">
                <a:solidFill>
                  <a:srgbClr val="FFFFFF">
                    <a:alpha val="99000"/>
                  </a:srgbClr>
                </a:solidFill>
                <a:latin typeface="Inter" pitchFamily="34" charset="0"/>
                <a:ea typeface="Inter" pitchFamily="34" charset="-122"/>
                <a:cs typeface="Inter" pitchFamily="34" charset="-120"/>
              </a:rPr>
              <a:t>Ø WER: ~27,9 % (0 dB)
</a:t>
            </a:r>
            <a:endParaRPr lang="en-US" sz="1283"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3" name="Shape 0"/>
          <p:cNvSpPr/>
          <p:nvPr/>
        </p:nvSpPr>
        <p:spPr>
          <a:xfrm>
            <a:off x="114300" y="85725"/>
            <a:ext cx="8915400" cy="4967288"/>
          </a:xfrm>
          <a:prstGeom prst="roundRect">
            <a:avLst>
              <a:gd name="adj" fmla="val 2209"/>
            </a:avLst>
          </a:prstGeom>
          <a:solidFill>
            <a:srgbClr val="171717"/>
          </a:solidFill>
          <a:ln/>
        </p:spPr>
      </p:sp>
      <p:pic>
        <p:nvPicPr>
          <p:cNvPr id="4" name="Image 0" descr="preencoded.png">    </p:cNvPr>
          <p:cNvPicPr>
            <a:picLocks noChangeAspect="1"/>
          </p:cNvPicPr>
          <p:nvPr/>
        </p:nvPicPr>
        <p:blipFill>
          <a:blip r:embed="rId1"/>
          <a:srcRect l="0" r="0" t="0" b="0"/>
          <a:stretch/>
        </p:blipFill>
        <p:spPr>
          <a:xfrm>
            <a:off x="495300" y="652463"/>
            <a:ext cx="2476500" cy="547688"/>
          </a:xfrm>
          <a:prstGeom prst="rect">
            <a:avLst/>
          </a:prstGeom>
        </p:spPr>
      </p:pic>
      <p:sp>
        <p:nvSpPr>
          <p:cNvPr id="5" name="Text 1"/>
          <p:cNvSpPr/>
          <p:nvPr/>
        </p:nvSpPr>
        <p:spPr>
          <a:xfrm>
            <a:off x="3748087" y="1200150"/>
            <a:ext cx="4886325" cy="547688"/>
          </a:xfrm>
          <a:prstGeom prst="rect">
            <a:avLst/>
          </a:prstGeom>
          <a:noFill/>
          <a:ln/>
        </p:spPr>
        <p:txBody>
          <a:bodyPr wrap="square" lIns="0" tIns="0" rIns="0" bIns="0" rtlCol="0" anchor="ctr"/>
          <a:lstStyle/>
          <a:p>
            <a:pPr algn="l" indent="0" marL="0">
              <a:lnSpc>
                <a:spcPts val="4104"/>
              </a:lnSpc>
              <a:buNone/>
            </a:pPr>
            <a:r>
              <a:rPr lang="en-US" sz="3420" b="1" spc="-75" kern="0" dirty="0">
                <a:solidFill>
                  <a:srgbClr val="FFFFFF">
                    <a:alpha val="99000"/>
                  </a:srgbClr>
                </a:solidFill>
                <a:latin typeface="Rethink Sans" pitchFamily="34" charset="0"/>
                <a:ea typeface="Rethink Sans" pitchFamily="34" charset="-122"/>
                <a:cs typeface="Rethink Sans" pitchFamily="34" charset="-120"/>
              </a:rPr>
              <a:t>Fazit</a:t>
            </a:r>
            <a:endParaRPr lang="en-US" sz="3420" dirty="0"/>
          </a:p>
        </p:txBody>
      </p:sp>
      <p:sp>
        <p:nvSpPr>
          <p:cNvPr id="6" name="Text 2"/>
          <p:cNvSpPr/>
          <p:nvPr/>
        </p:nvSpPr>
        <p:spPr>
          <a:xfrm>
            <a:off x="4343400" y="1876425"/>
            <a:ext cx="6977063" cy="3000375"/>
          </a:xfrm>
          <a:prstGeom prst="rect">
            <a:avLst/>
          </a:prstGeom>
          <a:noFill/>
          <a:ln/>
        </p:spPr>
        <p:txBody>
          <a:bodyPr wrap="square" lIns="0" tIns="0" rIns="0" bIns="0" rtlCol="0" anchor="t"/>
          <a:lstStyle/>
          <a:p>
            <a:pPr algn="l" indent="0" marL="0">
              <a:lnSpc>
                <a:spcPts val="3206"/>
              </a:lnSpc>
              <a:buNone/>
            </a:pPr>
            <a:r>
              <a:rPr lang="en-US" sz="1283" spc="-13" kern="0" dirty="0">
                <a:solidFill>
                  <a:srgbClr val="FBFAFB">
                    <a:alpha val="99000"/>
                  </a:srgbClr>
                </a:solidFill>
                <a:latin typeface="Rethink Sans" pitchFamily="34" charset="0"/>
                <a:ea typeface="Rethink Sans" pitchFamily="34" charset="-122"/>
                <a:cs typeface="Rethink Sans" pitchFamily="34" charset="-120"/>
              </a:rPr>
              <a:t>WER &amp; CER sinken konsistent mit steigendem SNR</a:t>
            </a:r>
            <a:endParaRPr lang="en-US" sz="1283" dirty="0"/>
          </a:p>
          <a:p>
            <a:pPr algn="l" indent="0" marL="0">
              <a:lnSpc>
                <a:spcPts val="3206"/>
              </a:lnSpc>
              <a:buNone/>
            </a:pPr>
            <a:r>
              <a:rPr lang="en-US" sz="1283" spc="-13" kern="0" dirty="0">
                <a:solidFill>
                  <a:srgbClr val="FBFAFB">
                    <a:alpha val="99000"/>
                  </a:srgbClr>
                </a:solidFill>
                <a:latin typeface="Rethink Sans" pitchFamily="34" charset="0"/>
                <a:ea typeface="Rethink Sans" pitchFamily="34" charset="-122"/>
                <a:cs typeface="Rethink Sans" pitchFamily="34" charset="-120"/>
              </a:rPr>
              <a:t>White Noise ist der härteste Stresstest</a:t>
            </a:r>
            <a:endParaRPr lang="en-US" sz="1283" dirty="0"/>
          </a:p>
          <a:p>
            <a:pPr algn="l" indent="0" marL="0">
              <a:lnSpc>
                <a:spcPts val="3206"/>
              </a:lnSpc>
              <a:buNone/>
            </a:pPr>
            <a:r>
              <a:rPr lang="en-US" sz="1283" spc="-13" kern="0" dirty="0">
                <a:solidFill>
                  <a:srgbClr val="FBFAFB">
                    <a:alpha val="99000"/>
                  </a:srgbClr>
                </a:solidFill>
                <a:latin typeface="Rethink Sans" pitchFamily="34" charset="0"/>
                <a:ea typeface="Rethink Sans" pitchFamily="34" charset="-122"/>
                <a:cs typeface="Rethink Sans" pitchFamily="34" charset="-120"/>
              </a:rPr>
              <a:t>Weibliche Stimmen tendenziell robuster </a:t>
            </a:r>
            <a:endParaRPr lang="en-US" sz="1283" dirty="0"/>
          </a:p>
          <a:p>
            <a:pPr algn="l" indent="0" marL="0">
              <a:lnSpc>
                <a:spcPts val="3206"/>
              </a:lnSpc>
              <a:buNone/>
            </a:pPr>
            <a:r>
              <a:rPr lang="en-US" sz="1283" spc="-13" kern="0" dirty="0">
                <a:solidFill>
                  <a:srgbClr val="FBFAFB">
                    <a:alpha val="99000"/>
                  </a:srgbClr>
                </a:solidFill>
                <a:latin typeface="Rethink Sans" pitchFamily="34" charset="0"/>
                <a:ea typeface="Rethink Sans" pitchFamily="34" charset="-122"/>
                <a:cs typeface="Rethink Sans" pitchFamily="34" charset="-120"/>
              </a:rPr>
              <a:t>Ab 15 dB SNR: Konvergenz aller Kurven</a:t>
            </a:r>
            <a:endParaRPr lang="en-US" sz="1283" dirty="0"/>
          </a:p>
          <a:p>
            <a:pPr algn="l" indent="0" marL="0">
              <a:lnSpc>
                <a:spcPts val="3206"/>
              </a:lnSpc>
              <a:buNone/>
            </a:pPr>
            <a:r>
              <a:rPr lang="en-US" sz="1283" spc="-13" kern="0" dirty="0">
                <a:solidFill>
                  <a:srgbClr val="FBFAFB">
                    <a:alpha val="99000"/>
                  </a:srgbClr>
                </a:solidFill>
                <a:latin typeface="Rethink Sans" pitchFamily="34" charset="0"/>
                <a:ea typeface="Rethink Sans" pitchFamily="34" charset="-122"/>
                <a:cs typeface="Rethink Sans" pitchFamily="34" charset="-120"/>
              </a:rPr>
              <a:t>Für rauschkritische TTS-Anwendungen: </a:t>
            </a:r>
            <a:endParaRPr lang="en-US" sz="1283" dirty="0"/>
          </a:p>
          <a:p>
            <a:pPr algn="l" marL="342900" indent="-342900">
              <a:lnSpc>
                <a:spcPts val="3206"/>
              </a:lnSpc>
              <a:buSzPct val="100000"/>
              <a:buChar char="•"/>
            </a:pPr>
            <a:r>
              <a:rPr lang="en-US" sz="1283" spc="-13" kern="0" dirty="0">
                <a:solidFill>
                  <a:srgbClr val="FBFAFB">
                    <a:alpha val="99000"/>
                  </a:srgbClr>
                </a:solidFill>
                <a:latin typeface="Rethink Sans" pitchFamily="34" charset="0"/>
                <a:ea typeface="Rethink Sans" pitchFamily="34" charset="-122"/>
                <a:cs typeface="Rethink Sans" pitchFamily="34" charset="-120"/>
              </a:rPr>
              <a:t>amy bevorzugen, joe vermeiden
</a:t>
            </a:r>
            <a:endParaRPr lang="en-US" sz="1283" dirty="0"/>
          </a:p>
        </p:txBody>
      </p:sp>
      <p:sp>
        <p:nvSpPr>
          <p:cNvPr id="7" name="Text 3"/>
          <p:cNvSpPr/>
          <p:nvPr/>
        </p:nvSpPr>
        <p:spPr>
          <a:xfrm>
            <a:off x="3748087" y="1962150"/>
            <a:ext cx="280988" cy="280988"/>
          </a:xfrm>
          <a:prstGeom prst="ellipse">
            <a:avLst/>
          </a:prstGeom>
          <a:solidFill>
            <a:srgbClr val="41B883"/>
          </a:solidFill>
          <a:ln/>
        </p:spPr>
        <p:txBody>
          <a:bodyPr wrap="square" rtlCol="0" anchor="ctr"/>
          <a:lstStyle/>
          <a:p>
            <a:pPr indent="0" marL="0">
              <a:buNone/>
            </a:pPr>
            <a:endParaRPr lang="en-US" dirty="0"/>
          </a:p>
        </p:txBody>
      </p:sp>
      <p:sp>
        <p:nvSpPr>
          <p:cNvPr id="8" name="Text 4"/>
          <p:cNvSpPr/>
          <p:nvPr/>
        </p:nvSpPr>
        <p:spPr>
          <a:xfrm>
            <a:off x="3748087" y="2381250"/>
            <a:ext cx="280988" cy="280988"/>
          </a:xfrm>
          <a:prstGeom prst="ellipse">
            <a:avLst/>
          </a:prstGeom>
          <a:solidFill>
            <a:srgbClr val="41B883"/>
          </a:solidFill>
          <a:ln/>
        </p:spPr>
        <p:txBody>
          <a:bodyPr wrap="square" rtlCol="0" anchor="ctr"/>
          <a:lstStyle/>
          <a:p>
            <a:pPr indent="0" marL="0">
              <a:buNone/>
            </a:pPr>
            <a:endParaRPr lang="en-US" dirty="0"/>
          </a:p>
        </p:txBody>
      </p:sp>
      <p:sp>
        <p:nvSpPr>
          <p:cNvPr id="9" name="Text 5"/>
          <p:cNvSpPr/>
          <p:nvPr/>
        </p:nvSpPr>
        <p:spPr>
          <a:xfrm>
            <a:off x="3748087" y="2800350"/>
            <a:ext cx="280988" cy="280988"/>
          </a:xfrm>
          <a:prstGeom prst="ellipse">
            <a:avLst/>
          </a:prstGeom>
          <a:solidFill>
            <a:srgbClr val="41B883"/>
          </a:solidFill>
          <a:ln/>
        </p:spPr>
        <p:txBody>
          <a:bodyPr wrap="square" rtlCol="0" anchor="ctr"/>
          <a:lstStyle/>
          <a:p>
            <a:pPr indent="0" marL="0">
              <a:buNone/>
            </a:pPr>
            <a:r>
              <a:rPr lang="en-US" dirty="0">
                <a:solidFill>
                  <a:srgbClr val="000000"/>
                </a:solidFill>
              </a:rPr>
              <a:t>--___</a:t>
            </a:r>
            <a:endParaRPr lang="en-US" dirty="0"/>
          </a:p>
        </p:txBody>
      </p:sp>
      <p:pic>
        <p:nvPicPr>
          <p:cNvPr id="10" name="Image 1" descr="preencoded.png">    </p:cNvPr>
          <p:cNvPicPr>
            <a:picLocks noChangeAspect="1"/>
          </p:cNvPicPr>
          <p:nvPr/>
        </p:nvPicPr>
        <p:blipFill>
          <a:blip r:embed="rId2"/>
          <a:srcRect l="0" r="0" t="0" b="0"/>
          <a:stretch/>
        </p:blipFill>
        <p:spPr>
          <a:xfrm>
            <a:off x="3790950" y="2005013"/>
            <a:ext cx="200025" cy="200025"/>
          </a:xfrm>
          <a:prstGeom prst="rect">
            <a:avLst/>
          </a:prstGeom>
        </p:spPr>
      </p:pic>
      <p:pic>
        <p:nvPicPr>
          <p:cNvPr id="11" name="Image 2" descr="preencoded.png">    </p:cNvPr>
          <p:cNvPicPr>
            <a:picLocks noChangeAspect="1"/>
          </p:cNvPicPr>
          <p:nvPr/>
        </p:nvPicPr>
        <p:blipFill>
          <a:blip r:embed="rId3"/>
          <a:srcRect l="0" r="0" t="0" b="0"/>
          <a:stretch/>
        </p:blipFill>
        <p:spPr>
          <a:xfrm>
            <a:off x="3790950" y="2424113"/>
            <a:ext cx="200025" cy="200025"/>
          </a:xfrm>
          <a:prstGeom prst="rect">
            <a:avLst/>
          </a:prstGeom>
        </p:spPr>
      </p:pic>
      <p:pic>
        <p:nvPicPr>
          <p:cNvPr id="12" name="Image 3" descr="preencoded.png">    </p:cNvPr>
          <p:cNvPicPr>
            <a:picLocks noChangeAspect="1"/>
          </p:cNvPicPr>
          <p:nvPr/>
        </p:nvPicPr>
        <p:blipFill>
          <a:blip r:embed="rId4"/>
          <a:srcRect l="0" r="0" t="0" b="0"/>
          <a:stretch/>
        </p:blipFill>
        <p:spPr>
          <a:xfrm>
            <a:off x="3790950" y="2843213"/>
            <a:ext cx="200025" cy="200025"/>
          </a:xfrm>
          <a:prstGeom prst="rect">
            <a:avLst/>
          </a:prstGeom>
        </p:spPr>
      </p:pic>
      <p:sp>
        <p:nvSpPr>
          <p:cNvPr id="13" name="Text 6"/>
          <p:cNvSpPr/>
          <p:nvPr/>
        </p:nvSpPr>
        <p:spPr>
          <a:xfrm>
            <a:off x="3748087" y="3228975"/>
            <a:ext cx="280988" cy="280988"/>
          </a:xfrm>
          <a:prstGeom prst="ellipse">
            <a:avLst/>
          </a:prstGeom>
          <a:solidFill>
            <a:srgbClr val="41B883"/>
          </a:solidFill>
          <a:ln/>
        </p:spPr>
        <p:txBody>
          <a:bodyPr wrap="square" rtlCol="0" anchor="ctr"/>
          <a:lstStyle/>
          <a:p>
            <a:pPr indent="0" marL="0">
              <a:buNone/>
            </a:pPr>
            <a:r>
              <a:rPr lang="en-US" dirty="0">
                <a:solidFill>
                  <a:srgbClr val="000000"/>
                </a:solidFill>
              </a:rPr>
              <a:t>--___</a:t>
            </a:r>
            <a:endParaRPr lang="en-US" dirty="0"/>
          </a:p>
        </p:txBody>
      </p:sp>
      <p:pic>
        <p:nvPicPr>
          <p:cNvPr id="14" name="Image 4" descr="preencoded.png">    </p:cNvPr>
          <p:cNvPicPr>
            <a:picLocks noChangeAspect="1"/>
          </p:cNvPicPr>
          <p:nvPr/>
        </p:nvPicPr>
        <p:blipFill>
          <a:blip r:embed="rId5"/>
          <a:srcRect l="0" r="0" t="0" b="0"/>
          <a:stretch/>
        </p:blipFill>
        <p:spPr>
          <a:xfrm>
            <a:off x="3790950" y="3271838"/>
            <a:ext cx="200025" cy="200025"/>
          </a:xfrm>
          <a:prstGeom prst="rect">
            <a:avLst/>
          </a:prstGeom>
        </p:spPr>
      </p:pic>
      <p:sp>
        <p:nvSpPr>
          <p:cNvPr id="15" name="Text 7"/>
          <p:cNvSpPr/>
          <p:nvPr/>
        </p:nvSpPr>
        <p:spPr>
          <a:xfrm>
            <a:off x="3748087" y="4090987"/>
            <a:ext cx="280988" cy="280988"/>
          </a:xfrm>
          <a:prstGeom prst="ellipse">
            <a:avLst/>
          </a:prstGeom>
          <a:solidFill>
            <a:srgbClr val="41B883"/>
          </a:solidFill>
          <a:ln/>
        </p:spPr>
        <p:txBody>
          <a:bodyPr wrap="square" rtlCol="0" anchor="ctr"/>
          <a:lstStyle/>
          <a:p>
            <a:pPr indent="0" marL="0">
              <a:buNone/>
            </a:pPr>
            <a:r>
              <a:rPr lang="en-US" dirty="0">
                <a:solidFill>
                  <a:srgbClr val="000000"/>
                </a:solidFill>
              </a:rPr>
              <a:t>--___</a:t>
            </a:r>
            <a:endParaRPr lang="en-US" dirty="0"/>
          </a:p>
        </p:txBody>
      </p:sp>
      <p:pic>
        <p:nvPicPr>
          <p:cNvPr id="16" name="Image 5" descr="preencoded.png">    </p:cNvPr>
          <p:cNvPicPr>
            <a:picLocks noChangeAspect="1"/>
          </p:cNvPicPr>
          <p:nvPr/>
        </p:nvPicPr>
        <p:blipFill>
          <a:blip r:embed="rId6"/>
          <a:srcRect l="0" r="0" t="0" b="0"/>
          <a:stretch/>
        </p:blipFill>
        <p:spPr>
          <a:xfrm>
            <a:off x="3790950" y="4133850"/>
            <a:ext cx="200025" cy="200025"/>
          </a:xfrm>
          <a:prstGeom prst="rect">
            <a:avLst/>
          </a:prstGeom>
        </p:spPr>
      </p:pic>
      <p:sp>
        <p:nvSpPr>
          <p:cNvPr id="17" name="Text 8"/>
          <p:cNvSpPr/>
          <p:nvPr/>
        </p:nvSpPr>
        <p:spPr>
          <a:xfrm>
            <a:off x="381000" y="4710113"/>
            <a:ext cx="4495800" cy="133350"/>
          </a:xfrm>
          <a:prstGeom prst="rect">
            <a:avLst/>
          </a:prstGeom>
          <a:noFill/>
          <a:ln/>
        </p:spPr>
        <p:txBody>
          <a:bodyPr wrap="square" lIns="0" tIns="0" rIns="0" bIns="0" rtlCol="0" anchor="t"/>
          <a:lstStyle/>
          <a:p>
            <a:pPr algn="l" indent="0" marL="0">
              <a:lnSpc>
                <a:spcPts val="998"/>
              </a:lnSpc>
              <a:buNone/>
            </a:pPr>
            <a:r>
              <a:rPr lang="en-US" sz="713" dirty="0">
                <a:solidFill>
                  <a:srgbClr val="606063">
                    <a:alpha val="99000"/>
                  </a:srgbClr>
                </a:solidFill>
                <a:latin typeface="Rethink Sans" pitchFamily="34" charset="0"/>
                <a:ea typeface="Rethink Sans" pitchFamily="34" charset="-122"/>
                <a:cs typeface="Rethink Sans" pitchFamily="34" charset="-120"/>
              </a:rPr>
              <a:t>113457a Speech Interaction | Lars Gerigk (lg107) | Nils Fink (nf056)</a:t>
            </a:r>
            <a:endParaRPr lang="en-US" sz="713" dirty="0"/>
          </a:p>
        </p:txBody>
      </p:sp>
      <p:sp>
        <p:nvSpPr>
          <p:cNvPr id="18" name="Text 9"/>
          <p:cNvSpPr/>
          <p:nvPr/>
        </p:nvSpPr>
        <p:spPr>
          <a:xfrm>
            <a:off x="366713" y="404813"/>
            <a:ext cx="6172200" cy="547688"/>
          </a:xfrm>
          <a:prstGeom prst="rect">
            <a:avLst/>
          </a:prstGeom>
          <a:noFill/>
          <a:ln/>
        </p:spPr>
        <p:txBody>
          <a:bodyPr wrap="square" lIns="0" tIns="0" rIns="0" bIns="0" rtlCol="0" anchor="ctr"/>
          <a:lstStyle/>
          <a:p>
            <a:pPr algn="l" indent="0" marL="0">
              <a:lnSpc>
                <a:spcPts val="4104"/>
              </a:lnSpc>
              <a:buNone/>
            </a:pPr>
            <a:r>
              <a:rPr lang="en-US" sz="3420" b="1" spc="-75" kern="0" dirty="0">
                <a:solidFill>
                  <a:srgbClr val="FFFFFF">
                    <a:alpha val="99000"/>
                  </a:srgbClr>
                </a:solidFill>
                <a:latin typeface="Rethink Sans" pitchFamily="34" charset="0"/>
                <a:ea typeface="Rethink Sans" pitchFamily="34" charset="-122"/>
                <a:cs typeface="Rethink Sans" pitchFamily="34" charset="-120"/>
              </a:rPr>
              <a:t>Eingrenzung &amp; Fazit
</a:t>
            </a:r>
            <a:endParaRPr lang="en-US" sz="3420" dirty="0"/>
          </a:p>
        </p:txBody>
      </p:sp>
      <p:sp>
        <p:nvSpPr>
          <p:cNvPr id="19" name="Shape 10"/>
          <p:cNvSpPr/>
          <p:nvPr/>
        </p:nvSpPr>
        <p:spPr>
          <a:xfrm rot="15045">
            <a:off x="366713" y="919162"/>
            <a:ext cx="2166958" cy="0"/>
          </a:xfrm>
          <a:prstGeom prst="line">
            <a:avLst/>
          </a:prstGeom>
          <a:noFill/>
          <a:ln w="18097">
            <a:solidFill>
              <a:srgbClr val="41B883"/>
            </a:solidFill>
            <a:prstDash val="solid"/>
          </a:ln>
        </p:spPr>
      </p:sp>
      <p:sp>
        <p:nvSpPr>
          <p:cNvPr id="20" name="Shape 11"/>
          <p:cNvSpPr/>
          <p:nvPr/>
        </p:nvSpPr>
        <p:spPr>
          <a:xfrm>
            <a:off x="495300" y="1247775"/>
            <a:ext cx="3041277" cy="991503"/>
          </a:xfrm>
          <a:prstGeom prst="roundRect">
            <a:avLst>
              <a:gd name="adj" fmla="val 15515"/>
            </a:avLst>
          </a:prstGeom>
          <a:solidFill>
            <a:srgbClr val="000000"/>
          </a:solidFill>
          <a:ln/>
        </p:spPr>
      </p:sp>
      <p:sp>
        <p:nvSpPr>
          <p:cNvPr id="21" name="Text 12"/>
          <p:cNvSpPr/>
          <p:nvPr/>
        </p:nvSpPr>
        <p:spPr>
          <a:xfrm>
            <a:off x="614381" y="1511296"/>
            <a:ext cx="2861004" cy="800100"/>
          </a:xfrm>
          <a:prstGeom prst="rect">
            <a:avLst/>
          </a:prstGeom>
          <a:noFill/>
          <a:ln/>
        </p:spPr>
        <p:txBody>
          <a:bodyPr wrap="square" lIns="0" tIns="0" rIns="0" bIns="0" rtlCol="0" anchor="t"/>
          <a:lstStyle/>
          <a:p>
            <a:pPr algn="l" indent="0" marL="0">
              <a:lnSpc>
                <a:spcPts val="1498"/>
              </a:lnSpc>
              <a:buNone/>
            </a:pPr>
            <a:r>
              <a:rPr lang="en-US" sz="599" spc="-6" kern="0" dirty="0">
                <a:solidFill>
                  <a:srgbClr val="FBFAFB">
                    <a:alpha val="99000"/>
                  </a:srgbClr>
                </a:solidFill>
                <a:latin typeface="Rethink Sans" pitchFamily="34" charset="0"/>
                <a:ea typeface="Rethink Sans" pitchFamily="34" charset="-122"/>
                <a:cs typeface="Rethink Sans" pitchFamily="34" charset="-120"/>
              </a:rPr>
              <a:t>White, Pink und Blue Noise sind stationäre Labormodelle. Reale Störquellen (Babble, Verkehr, Musik) sind nicht-stationär und schwerer zu modellieren (Hu &amp; Loizou, 2008).
</a:t>
            </a:r>
            <a:endParaRPr lang="en-US" sz="599" dirty="0"/>
          </a:p>
        </p:txBody>
      </p:sp>
      <p:sp>
        <p:nvSpPr>
          <p:cNvPr id="22" name="Text 13"/>
          <p:cNvSpPr/>
          <p:nvPr/>
        </p:nvSpPr>
        <p:spPr>
          <a:xfrm>
            <a:off x="594354" y="1291175"/>
            <a:ext cx="2262007" cy="238125"/>
          </a:xfrm>
          <a:prstGeom prst="rect">
            <a:avLst/>
          </a:prstGeom>
          <a:noFill/>
          <a:ln/>
        </p:spPr>
        <p:txBody>
          <a:bodyPr wrap="square" lIns="0" tIns="0" rIns="0" bIns="0" rtlCol="0" anchor="t"/>
          <a:lstStyle/>
          <a:p>
            <a:pPr algn="l" indent="0" marL="0">
              <a:lnSpc>
                <a:spcPts val="1798"/>
              </a:lnSpc>
              <a:buNone/>
            </a:pPr>
            <a:r>
              <a:rPr lang="en-US" sz="899" spc="-18" kern="0" dirty="0">
                <a:solidFill>
                  <a:srgbClr val="FFFFFF">
                    <a:alpha val="99000"/>
                  </a:srgbClr>
                </a:solidFill>
                <a:latin typeface="Inter" pitchFamily="34" charset="0"/>
                <a:ea typeface="Inter" pitchFamily="34" charset="-122"/>
                <a:cs typeface="Inter" pitchFamily="34" charset="-120"/>
              </a:rPr>
              <a:t>Kein realer Lärm
</a:t>
            </a:r>
            <a:endParaRPr lang="en-US" sz="899" dirty="0"/>
          </a:p>
        </p:txBody>
      </p:sp>
      <p:sp>
        <p:nvSpPr>
          <p:cNvPr id="23" name="Shape 14"/>
          <p:cNvSpPr/>
          <p:nvPr/>
        </p:nvSpPr>
        <p:spPr>
          <a:xfrm>
            <a:off x="515327" y="2336091"/>
            <a:ext cx="3041277" cy="991503"/>
          </a:xfrm>
          <a:prstGeom prst="roundRect">
            <a:avLst>
              <a:gd name="adj" fmla="val 15515"/>
            </a:avLst>
          </a:prstGeom>
          <a:solidFill>
            <a:srgbClr val="000000"/>
          </a:solidFill>
          <a:ln/>
        </p:spPr>
      </p:sp>
      <p:sp>
        <p:nvSpPr>
          <p:cNvPr id="24" name="Text 15"/>
          <p:cNvSpPr/>
          <p:nvPr/>
        </p:nvSpPr>
        <p:spPr>
          <a:xfrm>
            <a:off x="634417" y="2599612"/>
            <a:ext cx="2861004" cy="800100"/>
          </a:xfrm>
          <a:prstGeom prst="rect">
            <a:avLst/>
          </a:prstGeom>
          <a:noFill/>
          <a:ln/>
        </p:spPr>
        <p:txBody>
          <a:bodyPr wrap="square" lIns="0" tIns="0" rIns="0" bIns="0" rtlCol="0" anchor="t"/>
          <a:lstStyle/>
          <a:p>
            <a:pPr algn="l" indent="0" marL="0">
              <a:lnSpc>
                <a:spcPts val="1498"/>
              </a:lnSpc>
              <a:buNone/>
            </a:pPr>
            <a:r>
              <a:rPr lang="en-US" sz="599" spc="-6" kern="0" dirty="0">
                <a:solidFill>
                  <a:srgbClr val="FBFAFB">
                    <a:alpha val="99000"/>
                  </a:srgbClr>
                </a:solidFill>
                <a:latin typeface="Rethink Sans" pitchFamily="34" charset="0"/>
                <a:ea typeface="Rethink Sans" pitchFamily="34" charset="-122"/>
                <a:cs typeface="Rethink Sans" pitchFamily="34" charset="-120"/>
              </a:rPr>
              <a:t>Whisper besitzt keinen Cocktail-Party-Effekt (Cherry, 1953) und keine semantische Kontextkompensation. Blue Noise wirkt für Menschen potenziell störender als WER suggeriert.
</a:t>
            </a:r>
            <a:endParaRPr lang="en-US" sz="599" dirty="0"/>
          </a:p>
        </p:txBody>
      </p:sp>
      <p:sp>
        <p:nvSpPr>
          <p:cNvPr id="25" name="Text 16"/>
          <p:cNvSpPr/>
          <p:nvPr/>
        </p:nvSpPr>
        <p:spPr>
          <a:xfrm>
            <a:off x="614381" y="2379491"/>
            <a:ext cx="2262007" cy="238125"/>
          </a:xfrm>
          <a:prstGeom prst="rect">
            <a:avLst/>
          </a:prstGeom>
          <a:noFill/>
          <a:ln/>
        </p:spPr>
        <p:txBody>
          <a:bodyPr wrap="square" lIns="0" tIns="0" rIns="0" bIns="0" rtlCol="0" anchor="t"/>
          <a:lstStyle/>
          <a:p>
            <a:pPr algn="l" indent="0" marL="0">
              <a:lnSpc>
                <a:spcPts val="1798"/>
              </a:lnSpc>
              <a:buNone/>
            </a:pPr>
            <a:r>
              <a:rPr lang="en-US" sz="899" spc="-18" kern="0" dirty="0">
                <a:solidFill>
                  <a:srgbClr val="FFFFFF">
                    <a:alpha val="99000"/>
                  </a:srgbClr>
                </a:solidFill>
                <a:latin typeface="Inter" pitchFamily="34" charset="0"/>
                <a:ea typeface="Inter" pitchFamily="34" charset="-122"/>
                <a:cs typeface="Inter" pitchFamily="34" charset="-120"/>
              </a:rPr>
              <a:t>Whisper ≠ Mensch
</a:t>
            </a:r>
            <a:endParaRPr lang="en-US" sz="899" dirty="0"/>
          </a:p>
        </p:txBody>
      </p:sp>
      <p:pic>
        <p:nvPicPr>
          <p:cNvPr id="26" name="Image 6" descr="preencoded.png">    </p:cNvPr>
          <p:cNvPicPr>
            <a:picLocks noChangeAspect="1"/>
          </p:cNvPicPr>
          <p:nvPr/>
        </p:nvPicPr>
        <p:blipFill>
          <a:blip r:embed="rId7"/>
          <a:srcRect l="0" r="0" t="0" b="0"/>
          <a:stretch/>
        </p:blipFill>
        <p:spPr>
          <a:xfrm>
            <a:off x="3595688" y="3990975"/>
            <a:ext cx="590550" cy="571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sp>
        <p:nvSpPr>
          <p:cNvPr id="3" name="Shape 0"/>
          <p:cNvSpPr/>
          <p:nvPr/>
        </p:nvSpPr>
        <p:spPr>
          <a:xfrm>
            <a:off x="114300" y="85725"/>
            <a:ext cx="8915400" cy="4967288"/>
          </a:xfrm>
          <a:prstGeom prst="roundRect">
            <a:avLst>
              <a:gd name="adj" fmla="val 2209"/>
            </a:avLst>
          </a:prstGeom>
          <a:solidFill>
            <a:srgbClr val="171717"/>
          </a:solidFill>
          <a:ln/>
        </p:spPr>
      </p:sp>
      <p:pic>
        <p:nvPicPr>
          <p:cNvPr id="4" name="Image 0" descr="preencoded.png">    </p:cNvPr>
          <p:cNvPicPr>
            <a:picLocks noChangeAspect="1"/>
          </p:cNvPicPr>
          <p:nvPr/>
        </p:nvPicPr>
        <p:blipFill>
          <a:blip r:embed="rId1"/>
          <a:srcRect l="0" r="0" t="0" b="0"/>
          <a:stretch/>
        </p:blipFill>
        <p:spPr>
          <a:xfrm>
            <a:off x="495300" y="652463"/>
            <a:ext cx="2476500" cy="547688"/>
          </a:xfrm>
          <a:prstGeom prst="rect">
            <a:avLst/>
          </a:prstGeom>
        </p:spPr>
      </p:pic>
      <p:pic>
        <p:nvPicPr>
          <p:cNvPr id="5" name="Image 1" descr="preencoded.png">    </p:cNvPr>
          <p:cNvPicPr>
            <a:picLocks noChangeAspect="1"/>
          </p:cNvPicPr>
          <p:nvPr/>
        </p:nvPicPr>
        <p:blipFill>
          <a:blip r:embed="rId2"/>
          <a:srcRect l="0" r="0" t="0" b="0"/>
          <a:stretch/>
        </p:blipFill>
        <p:spPr>
          <a:xfrm>
            <a:off x="3200400" y="1328738"/>
            <a:ext cx="2743200" cy="2481263"/>
          </a:xfrm>
          <a:prstGeom prst="rect">
            <a:avLst/>
          </a:prstGeom>
        </p:spPr>
      </p:pic>
      <p:sp>
        <p:nvSpPr>
          <p:cNvPr id="6" name="Text 1"/>
          <p:cNvSpPr/>
          <p:nvPr/>
        </p:nvSpPr>
        <p:spPr>
          <a:xfrm>
            <a:off x="381000" y="4710113"/>
            <a:ext cx="4495800" cy="133350"/>
          </a:xfrm>
          <a:prstGeom prst="rect">
            <a:avLst/>
          </a:prstGeom>
          <a:noFill/>
          <a:ln/>
        </p:spPr>
        <p:txBody>
          <a:bodyPr wrap="square" lIns="0" tIns="0" rIns="0" bIns="0" rtlCol="0" anchor="t"/>
          <a:lstStyle/>
          <a:p>
            <a:pPr algn="l" indent="0" marL="0">
              <a:lnSpc>
                <a:spcPts val="998"/>
              </a:lnSpc>
              <a:buNone/>
            </a:pPr>
            <a:r>
              <a:rPr lang="en-US" sz="713" dirty="0">
                <a:solidFill>
                  <a:srgbClr val="606063">
                    <a:alpha val="99000"/>
                  </a:srgbClr>
                </a:solidFill>
                <a:latin typeface="Rethink Sans" pitchFamily="34" charset="0"/>
                <a:ea typeface="Rethink Sans" pitchFamily="34" charset="-122"/>
                <a:cs typeface="Rethink Sans" pitchFamily="34" charset="-120"/>
              </a:rPr>
              <a:t>113457a Speech Interaction | Lars Gerigk (lg107) | Nils Fink (nf056)</a:t>
            </a:r>
            <a:endParaRPr lang="en-US" sz="713" dirty="0"/>
          </a:p>
        </p:txBody>
      </p:sp>
      <p:sp>
        <p:nvSpPr>
          <p:cNvPr id="7" name="Text 2"/>
          <p:cNvSpPr/>
          <p:nvPr/>
        </p:nvSpPr>
        <p:spPr>
          <a:xfrm>
            <a:off x="366713" y="395288"/>
            <a:ext cx="4886325" cy="547688"/>
          </a:xfrm>
          <a:prstGeom prst="rect">
            <a:avLst/>
          </a:prstGeom>
          <a:noFill/>
          <a:ln/>
        </p:spPr>
        <p:txBody>
          <a:bodyPr wrap="square" lIns="0" tIns="0" rIns="0" bIns="0" rtlCol="0" anchor="ctr"/>
          <a:lstStyle/>
          <a:p>
            <a:pPr algn="l" indent="0" marL="0">
              <a:lnSpc>
                <a:spcPts val="4104"/>
              </a:lnSpc>
              <a:buNone/>
            </a:pPr>
            <a:r>
              <a:rPr lang="en-US" sz="3420" b="1" spc="-75" kern="0" dirty="0">
                <a:solidFill>
                  <a:srgbClr val="FFFFFF">
                    <a:alpha val="99000"/>
                  </a:srgbClr>
                </a:solidFill>
                <a:latin typeface="Rethink Sans" pitchFamily="34" charset="0"/>
                <a:ea typeface="Rethink Sans" pitchFamily="34" charset="-122"/>
                <a:cs typeface="Rethink Sans" pitchFamily="34" charset="-120"/>
              </a:rPr>
              <a:t>Was noch kommt</a:t>
            </a:r>
            <a:endParaRPr lang="en-US" sz="3420" dirty="0"/>
          </a:p>
        </p:txBody>
      </p:sp>
      <p:sp>
        <p:nvSpPr>
          <p:cNvPr id="8" name="Shape 3"/>
          <p:cNvSpPr/>
          <p:nvPr/>
        </p:nvSpPr>
        <p:spPr>
          <a:xfrm rot="15045">
            <a:off x="366713" y="919162"/>
            <a:ext cx="2166958" cy="0"/>
          </a:xfrm>
          <a:prstGeom prst="line">
            <a:avLst/>
          </a:prstGeom>
          <a:noFill/>
          <a:ln w="18097">
            <a:solidFill>
              <a:srgbClr val="41B883"/>
            </a:solidFill>
            <a:prstDash val="solid"/>
          </a:ln>
        </p:spPr>
      </p:sp>
      <p:sp>
        <p:nvSpPr>
          <p:cNvPr id="9" name="Text 4"/>
          <p:cNvSpPr/>
          <p:nvPr/>
        </p:nvSpPr>
        <p:spPr>
          <a:xfrm>
            <a:off x="352425" y="914400"/>
            <a:ext cx="8162925" cy="342900"/>
          </a:xfrm>
          <a:prstGeom prst="rect">
            <a:avLst/>
          </a:prstGeom>
          <a:noFill/>
          <a:ln/>
        </p:spPr>
        <p:txBody>
          <a:bodyPr wrap="square" lIns="0" tIns="0" rIns="0" bIns="0" rtlCol="0" anchor="t"/>
          <a:lstStyle/>
          <a:p>
            <a:pPr algn="l" indent="0" marL="0">
              <a:lnSpc>
                <a:spcPts val="2565"/>
              </a:lnSpc>
              <a:buNone/>
            </a:pPr>
            <a:r>
              <a:rPr lang="en-US" sz="1283" spc="-13" kern="0" dirty="0">
                <a:solidFill>
                  <a:srgbClr val="FBFAFB">
                    <a:alpha val="99000"/>
                  </a:srgbClr>
                </a:solidFill>
                <a:latin typeface="Rethink Sans" pitchFamily="34" charset="0"/>
                <a:ea typeface="Rethink Sans" pitchFamily="34" charset="-122"/>
                <a:cs typeface="Rethink Sans" pitchFamily="34" charset="-120"/>
              </a:rPr>
              <a:t>Confusionsmatrix </a:t>
            </a:r>
            <a:endParaRPr lang="en-US" sz="1283"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2026-07-31T18:52:35Z</dcterms:created>
  <dcterms:modified xsi:type="dcterms:W3CDTF">2026-07-31T18:52:35Z</dcterms:modified>
</cp:coreProperties>
</file>